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  <p:embeddedFont>
      <p:font typeface="Plus Jakarta Sans SemiBold"/>
      <p:regular r:id="rId23"/>
      <p:bold r:id="rId24"/>
      <p:italic r:id="rId25"/>
      <p:boldItalic r:id="rId26"/>
    </p:embeddedFont>
    <p:embeddedFont>
      <p:font typeface="Outfit"/>
      <p:regular r:id="rId27"/>
      <p:bold r:id="rId28"/>
    </p:embeddedFont>
    <p:embeddedFont>
      <p:font typeface="Plus Jakarta Sans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7A6AAE-93C6-4D0A-83EA-4AB3C1274B5A}">
  <a:tblStyle styleId="{427A6AAE-93C6-4D0A-83EA-4AB3C1274B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22" Type="http://schemas.openxmlformats.org/officeDocument/2006/relationships/font" Target="fonts/PlusJakartaSans-boldItalic.fntdata"/><Relationship Id="rId21" Type="http://schemas.openxmlformats.org/officeDocument/2006/relationships/font" Target="fonts/PlusJakartaSans-italic.fntdata"/><Relationship Id="rId24" Type="http://schemas.openxmlformats.org/officeDocument/2006/relationships/font" Target="fonts/PlusJakartaSansSemiBold-bold.fntdata"/><Relationship Id="rId23" Type="http://schemas.openxmlformats.org/officeDocument/2006/relationships/font" Target="fonts/PlusJakarta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SemiBold-boldItalic.fntdata"/><Relationship Id="rId25" Type="http://schemas.openxmlformats.org/officeDocument/2006/relationships/font" Target="fonts/PlusJakartaSansSemiBold-italic.fntdata"/><Relationship Id="rId28" Type="http://schemas.openxmlformats.org/officeDocument/2006/relationships/font" Target="fonts/Outfit-bold.fntdata"/><Relationship Id="rId27" Type="http://schemas.openxmlformats.org/officeDocument/2006/relationships/font" Target="fonts/Outfi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usJakartaSansMedium-italic.fntdata"/><Relationship Id="rId30" Type="http://schemas.openxmlformats.org/officeDocument/2006/relationships/font" Target="fonts/PlusJakartaSans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lusJakartaSans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usJakarta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24375" y="152400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AULA 01 • INTRODUÇÃO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60308" y="2000250"/>
            <a:ext cx="1107138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Evolução e </a:t>
            </a:r>
            <a:r>
              <a:rPr b="1" i="0" lang="en-US" sz="600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Operacionalização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257550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Como os dados se tornaram o ativo mais valioso das organizações modernas.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095875" y="4953000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Profª Juliana de Sá</a:t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00125" y="271938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Compreender a jornada do papel aos bancos de dados em nuvem.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300412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Identificar as falhas fatais dos sistemas baseados em arquivos.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388143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Analisar como o SGBD gera vantagem competitiva real.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4462462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Diferenciar Processamento Transacional de Analítico.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22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432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43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05325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OBJETIVOS DA NOSSA AULA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8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811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614612"/>
            <a:ext cx="5500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 Era dos Arquivos Físicos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033712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passado, a operacionalização era manual, lenta e sujeita a perdas físicas. O surgimento dos primeiros computadores trouxe os "Flat Files" (arquivos de texto), mas com grandes desafios: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890712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00125" y="4367212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Redundância massiva de dados.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4719637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Inconsistência (dados diferentes em locais diferentes).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1007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2500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DO PAPEL AO DIGITAL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 rotWithShape="1">
          <a:blip r:embed="rId8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7012"/>
            <a:ext cx="53340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67012"/>
            <a:ext cx="53340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000125" y="3148012"/>
            <a:ext cx="47505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Modelo de Codd (1970)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00125" y="3567112"/>
            <a:ext cx="4524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Edgar F. Codd revolucionou ao propor que os dados fossem organizados em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tabelas relacionais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independentes do hardware.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15125" y="3148012"/>
            <a:ext cx="47505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Independência de Dados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715125" y="3567112"/>
            <a:ext cx="4524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grande virada: a aplicação não precisa saber "onde" o dado está fisicamente, apenas "o que" ele é. Surge o conceito de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SGBD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 REVOLUÇÃO RELACIONAL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 rotWithShape="1">
          <a:blip r:embed="rId5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8375"/>
            <a:ext cx="349254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38375"/>
            <a:ext cx="349254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38375"/>
            <a:ext cx="3492549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94237" y="2857500"/>
            <a:ext cx="28470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Integridade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962025" y="336232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Regras automáticas que impedem a entrada de dados inválidos ou "órfãos".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95962" y="26289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4672537" y="3295650"/>
            <a:ext cx="28470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Concorrência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4740324" y="3800475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Permite que milhares de pessoas acessem e alterem dados ao mesmo tempo com segurança.</a:t>
            </a:r>
            <a:endParaRPr/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6174" y="26289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450836" y="3295650"/>
            <a:ext cx="28470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Segurança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18624" y="3800475"/>
            <a:ext cx="27114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Controle granular de quem pode ver, criar ou apagar cada informação.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PILARES DE UM SGBD MODERNO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9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2976562"/>
            <a:ext cx="3543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90%</a:t>
            </a:r>
            <a:endParaRPr sz="1200"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500562"/>
            <a:ext cx="3543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DOS DADOS MUNDIAIS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686300" y="2419350"/>
            <a:ext cx="72809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Velocidade e Operacionalização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4686300" y="2838450"/>
            <a:ext cx="69342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Nas organizações, o banco de dados não é apenas um "depósito", é o motor de sistemas cruciais: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114925" y="3600450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ERP: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Gestão integrada de toda a empresa.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5114925" y="4181475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CRM: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Relacionamento e histórico do cliente.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114925" y="4762500"/>
            <a:ext cx="65055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Decisões baseadas em fatos, não em palpites.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DADOS NO CENTRO DO NEGÓCIO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5619750" y="2552700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3645693" y="2876550"/>
            <a:ext cx="4900612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Estudo de Caso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3590925" y="3905250"/>
            <a:ext cx="5010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Analisando um cenário real de desorganização de dados.</a:t>
            </a: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571500" y="1500187"/>
            <a:ext cx="52006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O CASO DA BOUTIQUE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2214562"/>
            <a:ext cx="5200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Cenário: Dados Descentralizados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263366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Uma loja de roupas armazena: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4595812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que acontece quando o cliente quer trocar uma peça em tempo real?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000125" y="3252787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Clientes em uma planilha no caixa.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000125" y="3776662"/>
            <a:ext cx="4524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Estoque em um caderno no depósito.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5650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1952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/>
          <p:nvPr/>
        </p:nvSpPr>
        <p:spPr>
          <a:xfrm>
            <a:off x="571500" y="2538412"/>
            <a:ext cx="11049000" cy="26860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9" name="Google Shape;199;p21"/>
          <p:cNvGraphicFramePr/>
          <p:nvPr/>
        </p:nvGraphicFramePr>
        <p:xfrm>
          <a:off x="571500" y="2538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{427A6AAE-93C6-4D0A-83EA-4AB3C1274B5A}</a:tableStyleId>
              </a:tblPr>
              <a:tblGrid>
                <a:gridCol w="3186850"/>
                <a:gridCol w="4363950"/>
                <a:gridCol w="3498200"/>
              </a:tblGrid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Problema Identificado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Impacto no Negócio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22D3E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Solução via SGBD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Dados em locais diferentes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Perda de tempo e erros de digitação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Base de Dados Centralizada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Informação desatualizada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Vender produto que não tem no estoque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Atualização em Tempo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Sem histórico de compras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Dificuldade em oferecer promoções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Relacionamento Cliente/Venda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1"/>
          <p:cNvSpPr/>
          <p:nvPr/>
        </p:nvSpPr>
        <p:spPr>
          <a:xfrm>
            <a:off x="571500" y="3914775"/>
            <a:ext cx="3186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758356" y="3914775"/>
            <a:ext cx="436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8122294" y="3914775"/>
            <a:ext cx="34982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71500" y="4562475"/>
            <a:ext cx="3186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758356" y="4562475"/>
            <a:ext cx="436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122294" y="4562475"/>
            <a:ext cx="34982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5210175"/>
            <a:ext cx="318685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758356" y="5210175"/>
            <a:ext cx="436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122294" y="5210175"/>
            <a:ext cx="349820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ANÁLISE DE IMPACTO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619750" y="2552700"/>
            <a:ext cx="9525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3705701" y="2876550"/>
            <a:ext cx="478059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Mão na Massa!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4852987" y="3905250"/>
            <a:ext cx="24860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Atividade Prática em Grupo.</a:t>
            </a:r>
            <a:endParaRPr/>
          </a:p>
        </p:txBody>
      </p:sp>
      <p:pic>
        <p:nvPicPr>
          <p:cNvPr id="220" name="Google Shape;220;p22"/>
          <p:cNvPicPr preferRelativeResize="0"/>
          <p:nvPr/>
        </p:nvPicPr>
        <p:blipFill rotWithShape="1">
          <a:blip r:embed="rId4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2033587"/>
            <a:ext cx="3695700" cy="3695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4953000" y="2266950"/>
            <a:ext cx="7000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Instruções do Desafio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4953000" y="2686050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Reúnam-se em grupos de 4 pessoas e criem um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Mapa Mental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visual que conecte: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4953000" y="5019675"/>
            <a:ext cx="666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Tempo estimado: 20 minutos.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381625" y="3448050"/>
            <a:ext cx="6238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3 principais características de um SGBD.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381625" y="3971925"/>
            <a:ext cx="6238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Um exemplo de "caos de dados" no dia a dia.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5381625" y="4495800"/>
            <a:ext cx="6238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benefício final para o cliente da empresa.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00100" y="571500"/>
            <a:ext cx="113614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ATIVIDADE: MAPA MENTAL</a:t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571500" y="571500"/>
            <a:ext cx="76200" cy="5238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3"/>
          <p:cNvPicPr preferRelativeResize="0"/>
          <p:nvPr/>
        </p:nvPicPr>
        <p:blipFill rotWithShape="1">
          <a:blip r:embed="rId6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67137" y="4090987"/>
            <a:ext cx="46577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4185761" y="1509712"/>
            <a:ext cx="3820477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22D3EE"/>
                </a:solidFill>
                <a:latin typeface="Outfit"/>
                <a:ea typeface="Outfit"/>
                <a:cs typeface="Outfit"/>
                <a:sym typeface="Outfit"/>
              </a:rPr>
              <a:t>Dúvidas?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1966912" y="2947987"/>
            <a:ext cx="8258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Nossa jornada pela evolução dos dados está apenas começando.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4062437" y="4431037"/>
            <a:ext cx="4067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Próxima Aula: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Conceitual e Entidades</a:t>
            </a:r>
            <a:endParaRPr/>
          </a:p>
        </p:txBody>
      </p:sp>
      <p:pic>
        <p:nvPicPr>
          <p:cNvPr id="246" name="Google Shape;246;p24"/>
          <p:cNvPicPr preferRelativeResize="0"/>
          <p:nvPr/>
        </p:nvPicPr>
        <p:blipFill rotWithShape="1">
          <a:blip r:embed="rId5">
            <a:alphaModFix/>
          </a:blip>
          <a:srcRect b="26148" l="0" r="66422" t="7319"/>
          <a:stretch/>
        </p:blipFill>
        <p:spPr>
          <a:xfrm>
            <a:off x="11105350" y="169750"/>
            <a:ext cx="897649" cy="52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