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Poppi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7760F1-F67C-445A-8CD1-568BFCDEB418}">
  <a:tblStyle styleId="{C37760F1-F67C-445A-8CD1-568BFCDEB41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9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7.png"/><Relationship Id="rId6" Type="http://schemas.openxmlformats.org/officeDocument/2006/relationships/image" Target="../media/image9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9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image" Target="../media/image30.png"/><Relationship Id="rId7" Type="http://schemas.openxmlformats.org/officeDocument/2006/relationships/image" Target="../media/image19.png"/><Relationship Id="rId8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9.png"/><Relationship Id="rId7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31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076950"/>
            <a:ext cx="106489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672012" y="1000125"/>
            <a:ext cx="2847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BANCO DE DADOS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55482" y="1556295"/>
            <a:ext cx="8281035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Modelagem de Dados: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Conceitual e Lógico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3350567"/>
            <a:ext cx="85725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Transformando ideias de negócio em estruturas de dados organizadas.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619750" y="4851648"/>
            <a:ext cx="952500" cy="76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705350" y="5613648"/>
            <a:ext cx="27813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Profª Juliana de Sá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71525" y="6276975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Bases Tecnológicas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953550" y="6276975"/>
            <a:ext cx="14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Banco de Dados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57251"/>
            <a:ext cx="50387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6076950"/>
            <a:ext cx="106489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71525" y="6276975"/>
            <a:ext cx="800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Introdução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829925" y="6276975"/>
            <a:ext cx="590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Slide 02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71525" y="2097732"/>
            <a:ext cx="503872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Antes de construir qualquer sistema, precisamos de um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mapa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A modelagem serve para: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2066776"/>
            <a:ext cx="50196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019175" y="3425249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52525" y="3423344"/>
            <a:ext cx="46577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Entendimento: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Compreender as regras do negócio.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19175" y="429946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52525" y="4297560"/>
            <a:ext cx="46577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Comunicação: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Alinhar a ideia com o cliente e a equipe.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19175" y="5173682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152525" y="5171777"/>
            <a:ext cx="46577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Padronização: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Evitar erros e redundâncias antes de escrever código.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00125" y="771525"/>
            <a:ext cx="1094136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POR QUE MODELAR DADOS?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771525" y="771525"/>
            <a:ext cx="9525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028825"/>
            <a:ext cx="10648950" cy="1760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6076950"/>
            <a:ext cx="106489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71525" y="6276975"/>
            <a:ext cx="1209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Fase de Negócio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829925" y="6276975"/>
            <a:ext cx="590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Slide 03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133475" y="2543175"/>
            <a:ext cx="10001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É a visão de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ALTO NÍVEL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O foco é no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"O QUÊ"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 banco de dados vai armazenar, ignorando detalhes técnicos.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71525" y="3788865"/>
            <a:ext cx="529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Características: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35725" y="3641750"/>
            <a:ext cx="3699006" cy="27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1019175" y="545779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152525" y="4436565"/>
            <a:ext cx="465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Linguagem próxima ao negócio.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019175" y="591871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152525" y="4897485"/>
            <a:ext cx="465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Independente de software (SGBD).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019175" y="6379636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152525" y="5358406"/>
            <a:ext cx="465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Fácil leitura para o cliente final.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019175" y="6840557"/>
            <a:ext cx="133350" cy="17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152525" y="5819325"/>
            <a:ext cx="4987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Utiliza o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Diagrama Entidade-Relacionamento (DER)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000125" y="771525"/>
            <a:ext cx="1094136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MODELO CONCEITUAL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771525" y="771525"/>
            <a:ext cx="9525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32719"/>
            <a:ext cx="3343275" cy="3459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0550" y="2232719"/>
            <a:ext cx="3343275" cy="3459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29575" y="2232719"/>
            <a:ext cx="3390900" cy="3459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6076950"/>
            <a:ext cx="106489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771525" y="6276975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Dicionário Conceitual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0820400" y="6276975"/>
            <a:ext cx="6000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Slide 04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05037" y="262324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1097994" y="3289994"/>
            <a:ext cx="26903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Entidade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162050" y="3975794"/>
            <a:ext cx="256222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Objetos do mundo real (ex: Aluno, Curso, Produto).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2637" y="2623244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4727019" y="3289994"/>
            <a:ext cx="26903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Atributo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791075" y="3975794"/>
            <a:ext cx="256222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Características da entidade (ex: Nome, CPF, Preço).</a:t>
            </a:r>
            <a:endParaRPr/>
          </a:p>
        </p:txBody>
      </p:sp>
      <p:pic>
        <p:nvPicPr>
          <p:cNvPr descr="image.png" id="151" name="Google Shape;15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24987" y="2623244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8354853" y="3289994"/>
            <a:ext cx="274034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Relacionamento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420100" y="3975794"/>
            <a:ext cx="260985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Como elas se conectam (ex: Aluno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CURSA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Disciplina).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1000125" y="771525"/>
            <a:ext cx="1094136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COMPONENTES DO MODELO DER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771525" y="771525"/>
            <a:ext cx="9525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028825"/>
            <a:ext cx="10648950" cy="1760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360366"/>
            <a:ext cx="50387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6076950"/>
            <a:ext cx="106489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771525" y="627697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Fase Técnica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0829925" y="6276975"/>
            <a:ext cx="590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Slide 05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133475" y="2543175"/>
            <a:ext cx="10001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É a visão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TÉCNICA INTERMEDIÁRIA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O foco é no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"COMO"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os dados serão organizados estruturalmente.</a:t>
            </a:r>
            <a:endParaRPr/>
          </a:p>
        </p:txBody>
      </p:sp>
      <p:pic>
        <p:nvPicPr>
          <p:cNvPr descr="image.png" id="167" name="Google Shape;16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94848" y="3892525"/>
            <a:ext cx="3409515" cy="257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6446288" y="3908003"/>
            <a:ext cx="529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Características: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629400" y="545779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827288" y="4555703"/>
            <a:ext cx="465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Baseado no modelo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Relacional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629400" y="591871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827288" y="5016623"/>
            <a:ext cx="4657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Define nomes de colunas e tipos de dados.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629400" y="6745307"/>
            <a:ext cx="133350" cy="112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827288" y="5843215"/>
            <a:ext cx="465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Surge o conceito de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Tabelas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629400" y="7206228"/>
            <a:ext cx="1333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762750" y="7204323"/>
            <a:ext cx="465772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Introduz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Chaves Primárias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Estrangeiras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1000125" y="771525"/>
            <a:ext cx="1094136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MODELO LÓGICO</a:t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771525" y="771525"/>
            <a:ext cx="9525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078533"/>
            <a:ext cx="5038725" cy="2792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61294"/>
            <a:ext cx="5038725" cy="2426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6076950"/>
            <a:ext cx="106489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771525" y="5251995"/>
            <a:ext cx="10648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"No modelo lógico, relacionamentos tornam-se chaves estrangeiras."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771525" y="6276975"/>
            <a:ext cx="1209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Estrutura Lógica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0829925" y="6276975"/>
            <a:ext cx="590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Slide 06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247775" y="2469058"/>
            <a:ext cx="43805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Chave Primária (PK)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1247775" y="3154858"/>
            <a:ext cx="417195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identificador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ÚNICO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um registro em uma tabela (Ex: Matrícula de aluno).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858000" y="2651819"/>
            <a:ext cx="43805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Chave Estrangeira (FK)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858000" y="3337619"/>
            <a:ext cx="41719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campo que cria a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PONTE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entre duas tabelas, permitindo o relacionamento.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1000125" y="771525"/>
            <a:ext cx="1094136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CHAVES: A IDENTIDADE DOS DADOS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771525" y="771525"/>
            <a:ext cx="9525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56110"/>
            <a:ext cx="50387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6076950"/>
            <a:ext cx="106489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771525" y="6276975"/>
            <a:ext cx="1962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Facilitador de Aprendizado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10839450" y="6276975"/>
            <a:ext cx="581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Slide 07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771525" y="1838325"/>
            <a:ext cx="5290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Modelo Conceitual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771525" y="2524125"/>
            <a:ext cx="50387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O Desenho do Arquiteto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771525" y="2921270"/>
            <a:ext cx="50388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Onde ficam os quartos? Como o dono quer a sala? É uma conversa sobre desejos e espaços.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771525" y="4444007"/>
            <a:ext cx="50387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771525" y="4254782"/>
            <a:ext cx="529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Modelo Lógico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771525" y="4602432"/>
            <a:ext cx="503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 Planta Estrutural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771525" y="5196703"/>
            <a:ext cx="5038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Qual a espessura da parede? Onde passam os canos? Como a estrutura sustenta o teto?</a:t>
            </a:r>
            <a:endParaRPr/>
          </a:p>
        </p:txBody>
      </p:sp>
      <p:pic>
        <p:nvPicPr>
          <p:cNvPr descr="image.png" id="212" name="Google Shape;21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2465635"/>
            <a:ext cx="50196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1000125" y="771525"/>
            <a:ext cx="1094136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ANALOGIA: CONSTRUINDO UMA CASA</a:t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771525" y="771525"/>
            <a:ext cx="9525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076950"/>
            <a:ext cx="10648950" cy="390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1" name="Google Shape;221;p20"/>
          <p:cNvGraphicFramePr/>
          <p:nvPr/>
        </p:nvGraphicFramePr>
        <p:xfrm>
          <a:off x="771525" y="22118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{C37760F1-F67C-445A-8CD1-568BFCDEB418}</a:tableStyleId>
              </a:tblPr>
              <a:tblGrid>
                <a:gridCol w="2224675"/>
                <a:gridCol w="4356800"/>
                <a:gridCol w="4067475"/>
              </a:tblGrid>
              <a:tr h="70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Característica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Modelo Conceitual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Modelo Lógico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0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Público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Cliente e Analista de Negócio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Desenvolvedor e DBA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0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Objetos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Entidades e Relacionamentos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Tabelas e Colunas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0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Detalhes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Apenas nomes dos dados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Tipos, Chaves e Restrições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0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Ferramenta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Diagrama ER (DER)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Diagrama Lógico (DLD)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2" name="Google Shape;222;p20"/>
          <p:cNvSpPr txBox="1"/>
          <p:nvPr/>
        </p:nvSpPr>
        <p:spPr>
          <a:xfrm>
            <a:off x="771525" y="6276975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Resumo Comparativo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10829925" y="6276975"/>
            <a:ext cx="590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Slide 08</a:t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771525" y="3544341"/>
            <a:ext cx="22246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2996207" y="3544341"/>
            <a:ext cx="43567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7353002" y="3544341"/>
            <a:ext cx="40674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771525" y="4262437"/>
            <a:ext cx="22246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2996207" y="4262437"/>
            <a:ext cx="43567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7353002" y="4262437"/>
            <a:ext cx="40674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771525" y="4980533"/>
            <a:ext cx="22246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2996207" y="4980533"/>
            <a:ext cx="43567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7353002" y="4980533"/>
            <a:ext cx="40674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771525" y="5698628"/>
            <a:ext cx="22246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2996207" y="5698628"/>
            <a:ext cx="43567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7353002" y="5698628"/>
            <a:ext cx="40674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1000125" y="771525"/>
            <a:ext cx="1094136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CONCEITUAL VS. LÓGICO</a:t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771525" y="771525"/>
            <a:ext cx="9525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2525" y="2516534"/>
            <a:ext cx="1543050" cy="1725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27301" y="2516534"/>
            <a:ext cx="1504950" cy="1725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3978" y="2516534"/>
            <a:ext cx="1381125" cy="1725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76829" y="2516534"/>
            <a:ext cx="1162050" cy="1725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6076950"/>
            <a:ext cx="106489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/>
          <p:nvPr/>
        </p:nvSpPr>
        <p:spPr>
          <a:xfrm>
            <a:off x="771525" y="3379440"/>
            <a:ext cx="1064895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771525" y="4813845"/>
            <a:ext cx="10648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"Não pulamos etapas. Começamos na ideia para terminar no código."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771525" y="6276975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Processo de Modelagem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10829925" y="6276975"/>
            <a:ext cx="590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Slide 09</a:t>
            </a:r>
            <a:endParaRPr/>
          </a:p>
        </p:txBody>
      </p:sp>
      <p:pic>
        <p:nvPicPr>
          <p:cNvPr descr="image.png" id="252" name="Google Shape;252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63813" y="330324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00489" y="330324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13341" y="3303240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/>
          <p:nvPr/>
        </p:nvSpPr>
        <p:spPr>
          <a:xfrm>
            <a:off x="1733550" y="2707034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1343025" y="3259484"/>
            <a:ext cx="1162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MUNDO REAL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1343025" y="3705225"/>
            <a:ext cx="11620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Problema</a:t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4689276" y="2707034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317800" y="3259475"/>
            <a:ext cx="12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CONCEITUAL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4317801" y="3705225"/>
            <a:ext cx="1123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Entidades/Atrib</a:t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7564040" y="2707034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7254478" y="3259484"/>
            <a:ext cx="100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LÓGICO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7254475" y="3705225"/>
            <a:ext cx="112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Tabelas/Chaves</a:t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10267354" y="2707034"/>
            <a:ext cx="381000" cy="381000"/>
          </a:xfrm>
          <a:prstGeom prst="roundRect">
            <a:avLst>
              <a:gd fmla="val 50000" name="adj"/>
            </a:avLst>
          </a:prstGeom>
          <a:noFill/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10067329" y="3259484"/>
            <a:ext cx="781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FÍSICO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9848249" y="3705225"/>
            <a:ext cx="100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SQL / Banco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1000125" y="771525"/>
            <a:ext cx="1094136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 LINHA DO TEMPO</a:t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771525" y="771525"/>
            <a:ext cx="9525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028825"/>
            <a:ext cx="10648950" cy="1394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382391"/>
            <a:ext cx="5038725" cy="1482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6076950"/>
            <a:ext cx="106489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2"/>
          <p:cNvSpPr txBox="1"/>
          <p:nvPr/>
        </p:nvSpPr>
        <p:spPr>
          <a:xfrm>
            <a:off x="771525" y="3804195"/>
            <a:ext cx="10648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Identifique o que seriam as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Entidades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 seus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Atributos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no modelo conceitual: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771525" y="6276975"/>
            <a:ext cx="1609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Atividade Laboratorial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10858500" y="6276975"/>
            <a:ext cx="561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Slide 10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1133475" y="2543175"/>
            <a:ext cx="100012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Cenário: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Uma Livraria precisa organizar seu sistema.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1133475" y="4757748"/>
            <a:ext cx="465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Quais são os objetos principais?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1133475" y="5123419"/>
            <a:ext cx="465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que preciso saber sobre eles?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6677025" y="4849116"/>
            <a:ext cx="4448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Dica da Professora: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Pense no Livro, no Autor e no Cliente.</a:t>
            </a:r>
            <a:endParaRPr/>
          </a:p>
        </p:txBody>
      </p:sp>
      <p:pic>
        <p:nvPicPr>
          <p:cNvPr descr="image.png" id="284" name="Google Shape;28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2525" y="480102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2525" y="516669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 txBox="1"/>
          <p:nvPr/>
        </p:nvSpPr>
        <p:spPr>
          <a:xfrm>
            <a:off x="1000125" y="771525"/>
            <a:ext cx="1094136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DESAFIO PRÁTICO</a:t>
            </a:r>
            <a:endParaRPr/>
          </a:p>
        </p:txBody>
      </p:sp>
      <p:sp>
        <p:nvSpPr>
          <p:cNvPr id="287" name="Google Shape;287;p22"/>
          <p:cNvSpPr/>
          <p:nvPr/>
        </p:nvSpPr>
        <p:spPr>
          <a:xfrm>
            <a:off x="771525" y="771525"/>
            <a:ext cx="9525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94694"/>
            <a:ext cx="3359199" cy="2335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474" y="2794694"/>
            <a:ext cx="3359199" cy="2335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2794694"/>
            <a:ext cx="3359199" cy="2335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6076950"/>
            <a:ext cx="106489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3"/>
          <p:cNvSpPr txBox="1"/>
          <p:nvPr/>
        </p:nvSpPr>
        <p:spPr>
          <a:xfrm>
            <a:off x="771525" y="6276975"/>
            <a:ext cx="790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Conclusão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10896600" y="6276975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Slide 11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1162050" y="3413819"/>
            <a:ext cx="2578149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Conceitual: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Visão abstrata, DER, diálogo com cliente.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4806999" y="3413819"/>
            <a:ext cx="2578149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Lógico: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Visão técnica, Tabelas, PK e FK.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8451949" y="3413819"/>
            <a:ext cx="2578149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Regra de Ouro: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 lógico deriva do conceitual.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1000125" y="771525"/>
            <a:ext cx="1094136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CHECKLIST DE HOJE</a:t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771525" y="771525"/>
            <a:ext cx="9525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