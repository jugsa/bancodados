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embeddedFontLst>
    <p:embeddedFont>
      <p:font typeface="Calibri" panose="020F0502020204030204" pitchFamily="34" charset="0"/>
      <p:regular r:id="rId30"/>
      <p:bold r:id="rId31"/>
      <p:italic r:id="rId32"/>
      <p:boldItalic r:id="rId33"/>
    </p:embeddedFont>
    <p:embeddedFont>
      <p:font typeface="Urbanist SemiBold" panose="020B0604020202020204" charset="0"/>
      <p:regular r:id="rId34"/>
      <p:bold r:id="rId35"/>
      <p:italic r:id="rId36"/>
      <p:boldItalic r:id="rId37"/>
    </p:embeddedFont>
    <p:embeddedFont>
      <p:font typeface="Urbanist" panose="020B0604020202020204" charset="0"/>
      <p:regular r:id="rId38"/>
      <p:bold r:id="rId39"/>
      <p:italic r:id="rId40"/>
      <p:boldItalic r:id="rId41"/>
    </p:embeddedFont>
    <p:embeddedFont>
      <p:font typeface="JetBrains Mono" panose="020B060402020202020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6C430D5-EB40-4A22-B546-3419E6079C9D}">
  <a:tblStyle styleId="{D6C430D5-EB40-4A22-B546-3419E6079C9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a87fa4af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g3ca87fa4af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ca87fa4af1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g3ca87fa4af1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ca87fa4af1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3ca87fa4af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ca87fa4af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ca87fa4af1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ca87fa4af1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3ca87fa4af1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a87fa4af1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g3ca87fa4af1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ca87fa4af1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g3ca87fa4af1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ca87fa4af1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3ca87fa4af1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ca87fa4af1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g3ca87fa4af1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ca87fa4af1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g3ca87fa4af1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ca87fa4af1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g3ca87fa4af1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ca87fa4af1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g3ca87fa4af1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ca87fa4af1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g3ca87fa4af1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ca87fa4af1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g3ca87fa4af1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ca87fa4af1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g3ca87fa4af1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ca87fa4af1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g3ca87fa4af1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5" name="Google Shape;34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5" name="Google Shape;36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3538537" y="1538287"/>
            <a:ext cx="5114925" cy="380873"/>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smtClean="0">
                <a:solidFill>
                  <a:srgbClr val="22D3EE"/>
                </a:solidFill>
                <a:latin typeface="Urbanist SemiBold"/>
                <a:ea typeface="Urbanist SemiBold"/>
                <a:cs typeface="Urbanist SemiBold"/>
                <a:sym typeface="Urbanist SemiBold"/>
              </a:rPr>
              <a:t>BANCO </a:t>
            </a:r>
            <a:r>
              <a:rPr lang="en-US" sz="1650" b="0" i="0" u="none" strike="noStrike" cap="none">
                <a:solidFill>
                  <a:srgbClr val="22D3EE"/>
                </a:solidFill>
                <a:latin typeface="Urbanist SemiBold"/>
                <a:ea typeface="Urbanist SemiBold"/>
                <a:cs typeface="Urbanist SemiBold"/>
                <a:sym typeface="Urbanist SemiBold"/>
              </a:rPr>
              <a:t>DE DADOS</a:t>
            </a:r>
            <a:endParaRPr/>
          </a:p>
        </p:txBody>
      </p:sp>
      <p:sp>
        <p:nvSpPr>
          <p:cNvPr id="86" name="Google Shape;86;p13"/>
          <p:cNvSpPr txBox="1"/>
          <p:nvPr/>
        </p:nvSpPr>
        <p:spPr>
          <a:xfrm>
            <a:off x="3030616" y="2043112"/>
            <a:ext cx="6130766" cy="16764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000" b="1" i="0" u="none" strike="noStrike" cap="none">
                <a:solidFill>
                  <a:srgbClr val="FFFFFF"/>
                </a:solidFill>
                <a:latin typeface="Urbanist"/>
                <a:ea typeface="Urbanist"/>
                <a:cs typeface="Urbanist"/>
                <a:sym typeface="Urbanist"/>
              </a:rPr>
              <a:t>Componentes e </a:t>
            </a:r>
            <a:r>
              <a:rPr lang="en-US" sz="1800" b="0" i="0" u="none" strike="noStrike" cap="none">
                <a:solidFill>
                  <a:schemeClr val="dk1"/>
                </a:solidFill>
                <a:latin typeface="Calibri"/>
                <a:ea typeface="Calibri"/>
                <a:cs typeface="Calibri"/>
                <a:sym typeface="Calibri"/>
              </a:rPr>
              <a:t/>
            </a:r>
            <a:br>
              <a:rPr lang="en-US" sz="1800" b="0" i="0" u="none" strike="noStrike" cap="none">
                <a:solidFill>
                  <a:schemeClr val="dk1"/>
                </a:solidFill>
                <a:latin typeface="Calibri"/>
                <a:ea typeface="Calibri"/>
                <a:cs typeface="Calibri"/>
                <a:sym typeface="Calibri"/>
              </a:rPr>
            </a:br>
            <a:r>
              <a:rPr lang="en-US" sz="6000" b="1" i="0" u="none" strike="noStrike" cap="none">
                <a:solidFill>
                  <a:srgbClr val="22D3EE"/>
                </a:solidFill>
                <a:latin typeface="Urbanist"/>
                <a:ea typeface="Urbanist"/>
                <a:cs typeface="Urbanist"/>
                <a:sym typeface="Urbanist"/>
              </a:rPr>
              <a:t>Relacionamentos</a:t>
            </a:r>
            <a:endParaRPr/>
          </a:p>
        </p:txBody>
      </p:sp>
      <p:sp>
        <p:nvSpPr>
          <p:cNvPr id="87" name="Google Shape;87;p13"/>
          <p:cNvSpPr txBox="1"/>
          <p:nvPr/>
        </p:nvSpPr>
        <p:spPr>
          <a:xfrm>
            <a:off x="2286000" y="3910012"/>
            <a:ext cx="7620000" cy="914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400" b="0" i="0" u="none" strike="noStrike" cap="none">
                <a:solidFill>
                  <a:srgbClr val="64748B"/>
                </a:solidFill>
                <a:latin typeface="Urbanist"/>
                <a:ea typeface="Urbanist"/>
                <a:cs typeface="Urbanist"/>
                <a:sym typeface="Urbanist"/>
              </a:rPr>
              <a:t>Fundamentos da Modelagem Conceitual: Como estruturar ideias de dados do zero.</a:t>
            </a:r>
            <a:endParaRPr/>
          </a:p>
        </p:txBody>
      </p:sp>
      <p:sp>
        <p:nvSpPr>
          <p:cNvPr id="88" name="Google Shape;88;p13"/>
          <p:cNvSpPr txBox="1"/>
          <p:nvPr/>
        </p:nvSpPr>
        <p:spPr>
          <a:xfrm>
            <a:off x="4938712" y="5205412"/>
            <a:ext cx="2314575"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8FAFC"/>
                </a:solidFill>
                <a:latin typeface="Urbanist SemiBold"/>
                <a:ea typeface="Urbanist SemiBold"/>
                <a:cs typeface="Urbanist SemiBold"/>
                <a:sym typeface="Urbanist SemiBold"/>
              </a:rPr>
              <a:t>Profª Juliana de Sá</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581025" y="2176462"/>
            <a:ext cx="3486150" cy="3438525"/>
          </a:xfrm>
          <a:prstGeom prst="rect">
            <a:avLst/>
          </a:prstGeom>
          <a:noFill/>
          <a:ln>
            <a:noFill/>
          </a:ln>
        </p:spPr>
      </p:pic>
      <p:pic>
        <p:nvPicPr>
          <p:cNvPr id="95" name="Google Shape;95;p14" descr="image.png"/>
          <p:cNvPicPr preferRelativeResize="0"/>
          <p:nvPr/>
        </p:nvPicPr>
        <p:blipFill rotWithShape="1">
          <a:blip r:embed="rId5">
            <a:alphaModFix/>
          </a:blip>
          <a:srcRect/>
          <a:stretch/>
        </p:blipFill>
        <p:spPr>
          <a:xfrm>
            <a:off x="4352925" y="2176462"/>
            <a:ext cx="3486150" cy="3438525"/>
          </a:xfrm>
          <a:prstGeom prst="rect">
            <a:avLst/>
          </a:prstGeom>
          <a:noFill/>
          <a:ln>
            <a:noFill/>
          </a:ln>
        </p:spPr>
      </p:pic>
      <p:pic>
        <p:nvPicPr>
          <p:cNvPr id="96" name="Google Shape;96;p14" descr="image.png"/>
          <p:cNvPicPr preferRelativeResize="0"/>
          <p:nvPr/>
        </p:nvPicPr>
        <p:blipFill rotWithShape="1">
          <a:blip r:embed="rId6">
            <a:alphaModFix/>
          </a:blip>
          <a:srcRect/>
          <a:stretch/>
        </p:blipFill>
        <p:spPr>
          <a:xfrm>
            <a:off x="8124825" y="2176462"/>
            <a:ext cx="3486150" cy="3438525"/>
          </a:xfrm>
          <a:prstGeom prst="rect">
            <a:avLst/>
          </a:prstGeom>
          <a:noFill/>
          <a:ln>
            <a:noFill/>
          </a:ln>
        </p:spPr>
      </p:pic>
      <p:pic>
        <p:nvPicPr>
          <p:cNvPr id="97" name="Google Shape;97;p14" descr="image.png"/>
          <p:cNvPicPr preferRelativeResize="0"/>
          <p:nvPr/>
        </p:nvPicPr>
        <p:blipFill rotWithShape="1">
          <a:blip r:embed="rId7">
            <a:alphaModFix/>
          </a:blip>
          <a:srcRect/>
          <a:stretch/>
        </p:blipFill>
        <p:spPr>
          <a:xfrm>
            <a:off x="2057400" y="2566987"/>
            <a:ext cx="533400" cy="533400"/>
          </a:xfrm>
          <a:prstGeom prst="rect">
            <a:avLst/>
          </a:prstGeom>
          <a:noFill/>
          <a:ln>
            <a:noFill/>
          </a:ln>
        </p:spPr>
      </p:pic>
      <p:sp>
        <p:nvSpPr>
          <p:cNvPr id="98" name="Google Shape;98;p14"/>
          <p:cNvSpPr txBox="1"/>
          <p:nvPr/>
        </p:nvSpPr>
        <p:spPr>
          <a:xfrm>
            <a:off x="903922" y="3328987"/>
            <a:ext cx="2840355"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F8FAFC"/>
                </a:solidFill>
                <a:latin typeface="Urbanist"/>
                <a:ea typeface="Urbanist"/>
                <a:cs typeface="Urbanist"/>
                <a:sym typeface="Urbanist"/>
              </a:rPr>
              <a:t>Entidade</a:t>
            </a:r>
            <a:endParaRPr/>
          </a:p>
        </p:txBody>
      </p:sp>
      <p:sp>
        <p:nvSpPr>
          <p:cNvPr id="99" name="Google Shape;99;p14"/>
          <p:cNvSpPr txBox="1"/>
          <p:nvPr/>
        </p:nvSpPr>
        <p:spPr>
          <a:xfrm>
            <a:off x="971550" y="3757612"/>
            <a:ext cx="2705100" cy="12573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94A3B8"/>
                </a:solidFill>
                <a:latin typeface="Urbanist"/>
                <a:ea typeface="Urbanist"/>
                <a:cs typeface="Urbanist"/>
                <a:sym typeface="Urbanist"/>
              </a:rPr>
              <a:t>O "substantivo" do sistema. Objetos ou conceitos do mundo real que queremos armazenar.</a:t>
            </a:r>
            <a:endParaRPr/>
          </a:p>
        </p:txBody>
      </p:sp>
      <p:pic>
        <p:nvPicPr>
          <p:cNvPr id="100" name="Google Shape;100;p14" descr="image.png"/>
          <p:cNvPicPr preferRelativeResize="0"/>
          <p:nvPr/>
        </p:nvPicPr>
        <p:blipFill rotWithShape="1">
          <a:blip r:embed="rId8">
            <a:alphaModFix/>
          </a:blip>
          <a:srcRect/>
          <a:stretch/>
        </p:blipFill>
        <p:spPr>
          <a:xfrm>
            <a:off x="5862637" y="2566987"/>
            <a:ext cx="466725" cy="533400"/>
          </a:xfrm>
          <a:prstGeom prst="rect">
            <a:avLst/>
          </a:prstGeom>
          <a:noFill/>
          <a:ln>
            <a:noFill/>
          </a:ln>
        </p:spPr>
      </p:pic>
      <p:sp>
        <p:nvSpPr>
          <p:cNvPr id="101" name="Google Shape;101;p14"/>
          <p:cNvSpPr txBox="1"/>
          <p:nvPr/>
        </p:nvSpPr>
        <p:spPr>
          <a:xfrm>
            <a:off x="4675822" y="3328987"/>
            <a:ext cx="2840355"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F8FAFC"/>
                </a:solidFill>
                <a:latin typeface="Urbanist"/>
                <a:ea typeface="Urbanist"/>
                <a:cs typeface="Urbanist"/>
                <a:sym typeface="Urbanist"/>
              </a:rPr>
              <a:t>Atributo</a:t>
            </a:r>
            <a:endParaRPr/>
          </a:p>
        </p:txBody>
      </p:sp>
      <p:sp>
        <p:nvSpPr>
          <p:cNvPr id="102" name="Google Shape;102;p14"/>
          <p:cNvSpPr txBox="1"/>
          <p:nvPr/>
        </p:nvSpPr>
        <p:spPr>
          <a:xfrm>
            <a:off x="4743450" y="3757612"/>
            <a:ext cx="2705100" cy="12573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94A3B8"/>
                </a:solidFill>
                <a:latin typeface="Urbanist"/>
                <a:ea typeface="Urbanist"/>
                <a:cs typeface="Urbanist"/>
                <a:sym typeface="Urbanist"/>
              </a:rPr>
              <a:t>O "adjetivo". As propriedades que descrevem e detalham as características das entidades.</a:t>
            </a:r>
            <a:endParaRPr/>
          </a:p>
        </p:txBody>
      </p:sp>
      <p:pic>
        <p:nvPicPr>
          <p:cNvPr id="103" name="Google Shape;103;p14" descr="image.png"/>
          <p:cNvPicPr preferRelativeResize="0"/>
          <p:nvPr/>
        </p:nvPicPr>
        <p:blipFill rotWithShape="1">
          <a:blip r:embed="rId9">
            <a:alphaModFix/>
          </a:blip>
          <a:srcRect/>
          <a:stretch/>
        </p:blipFill>
        <p:spPr>
          <a:xfrm>
            <a:off x="9534525" y="2566987"/>
            <a:ext cx="666750" cy="533400"/>
          </a:xfrm>
          <a:prstGeom prst="rect">
            <a:avLst/>
          </a:prstGeom>
          <a:noFill/>
          <a:ln>
            <a:noFill/>
          </a:ln>
        </p:spPr>
      </p:pic>
      <p:sp>
        <p:nvSpPr>
          <p:cNvPr id="104" name="Google Shape;104;p14"/>
          <p:cNvSpPr txBox="1"/>
          <p:nvPr/>
        </p:nvSpPr>
        <p:spPr>
          <a:xfrm>
            <a:off x="8447722" y="3328987"/>
            <a:ext cx="2840355"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F8FAFC"/>
                </a:solidFill>
                <a:latin typeface="Urbanist"/>
                <a:ea typeface="Urbanist"/>
                <a:cs typeface="Urbanist"/>
                <a:sym typeface="Urbanist"/>
              </a:rPr>
              <a:t>Relacionamento</a:t>
            </a:r>
            <a:endParaRPr/>
          </a:p>
        </p:txBody>
      </p:sp>
      <p:sp>
        <p:nvSpPr>
          <p:cNvPr id="105" name="Google Shape;105;p14"/>
          <p:cNvSpPr txBox="1"/>
          <p:nvPr/>
        </p:nvSpPr>
        <p:spPr>
          <a:xfrm>
            <a:off x="8515350" y="3757612"/>
            <a:ext cx="2705100" cy="9429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94A3B8"/>
                </a:solidFill>
                <a:latin typeface="Urbanist"/>
                <a:ea typeface="Urbanist"/>
                <a:cs typeface="Urbanist"/>
                <a:sym typeface="Urbanist"/>
              </a:rPr>
              <a:t>O "verbo". A associação que define como as entidades interagem entre si.</a:t>
            </a:r>
            <a:endParaRPr/>
          </a:p>
        </p:txBody>
      </p:sp>
      <p:sp>
        <p:nvSpPr>
          <p:cNvPr id="106" name="Google Shape;106;p14"/>
          <p:cNvSpPr txBox="1"/>
          <p:nvPr/>
        </p:nvSpPr>
        <p:spPr>
          <a:xfrm>
            <a:off x="809625" y="581025"/>
            <a:ext cx="5670708"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OS TRÊS PILARES DO MER</a:t>
            </a:r>
            <a:endParaRPr/>
          </a:p>
        </p:txBody>
      </p:sp>
      <p:sp>
        <p:nvSpPr>
          <p:cNvPr id="107" name="Google Shape;107;p14"/>
          <p:cNvSpPr/>
          <p:nvPr/>
        </p:nvSpPr>
        <p:spPr>
          <a:xfrm>
            <a:off x="581025" y="581025"/>
            <a:ext cx="76200" cy="55245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11"/>
        <p:cNvGrpSpPr/>
        <p:nvPr/>
      </p:nvGrpSpPr>
      <p:grpSpPr>
        <a:xfrm>
          <a:off x="0" y="0"/>
          <a:ext cx="0" cy="0"/>
          <a:chOff x="0" y="0"/>
          <a:chExt cx="0" cy="0"/>
        </a:xfrm>
      </p:grpSpPr>
      <p:pic>
        <p:nvPicPr>
          <p:cNvPr id="112" name="Google Shape;112;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3" name="Google Shape;113;p15" descr="image.png"/>
          <p:cNvPicPr preferRelativeResize="0"/>
          <p:nvPr/>
        </p:nvPicPr>
        <p:blipFill rotWithShape="1">
          <a:blip r:embed="rId4">
            <a:alphaModFix/>
          </a:blip>
          <a:srcRect/>
          <a:stretch/>
        </p:blipFill>
        <p:spPr>
          <a:xfrm>
            <a:off x="581025" y="4705350"/>
            <a:ext cx="5229225" cy="1238250"/>
          </a:xfrm>
          <a:prstGeom prst="rect">
            <a:avLst/>
          </a:prstGeom>
          <a:noFill/>
          <a:ln>
            <a:noFill/>
          </a:ln>
        </p:spPr>
      </p:pic>
      <p:sp>
        <p:nvSpPr>
          <p:cNvPr id="114" name="Google Shape;114;p15"/>
          <p:cNvSpPr txBox="1"/>
          <p:nvPr/>
        </p:nvSpPr>
        <p:spPr>
          <a:xfrm>
            <a:off x="581025" y="2057400"/>
            <a:ext cx="5229225" cy="9429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94A3B8"/>
                </a:solidFill>
                <a:latin typeface="Urbanist"/>
                <a:ea typeface="Urbanist"/>
                <a:cs typeface="Urbanist"/>
                <a:sym typeface="Urbanist"/>
              </a:rPr>
              <a:t>São os "atores" do nosso banco de dados. Representam coisas concretas ou abstratas sobre as quais precisamos guardar informações.</a:t>
            </a:r>
            <a:endParaRPr/>
          </a:p>
        </p:txBody>
      </p:sp>
      <p:sp>
        <p:nvSpPr>
          <p:cNvPr id="115" name="Google Shape;115;p15"/>
          <p:cNvSpPr txBox="1"/>
          <p:nvPr/>
        </p:nvSpPr>
        <p:spPr>
          <a:xfrm>
            <a:off x="581025" y="3286125"/>
            <a:ext cx="5229225" cy="628650"/>
          </a:xfrm>
          <a:prstGeom prst="rect">
            <a:avLst/>
          </a:prstGeom>
          <a:noFill/>
          <a:ln>
            <a:noFill/>
          </a:ln>
        </p:spPr>
        <p:txBody>
          <a:bodyPr spcFirstLastPara="1" wrap="square" lIns="180975" tIns="0" rIns="0" bIns="0" anchor="t" anchorCtr="0">
            <a:spAutoFit/>
          </a:bodyPr>
          <a:lstStyle/>
          <a:p>
            <a:pPr marL="0" marR="0" lvl="0" indent="0" algn="l" rtl="0">
              <a:lnSpc>
                <a:spcPct val="150000"/>
              </a:lnSpc>
              <a:spcBef>
                <a:spcPts val="0"/>
              </a:spcBef>
              <a:spcAft>
                <a:spcPts val="0"/>
              </a:spcAft>
              <a:buNone/>
            </a:pPr>
            <a:r>
              <a:rPr lang="en-US" sz="1650" b="1" i="0" u="none" strike="noStrike" cap="none">
                <a:solidFill>
                  <a:srgbClr val="94A3B8"/>
                </a:solidFill>
                <a:latin typeface="Urbanist"/>
                <a:ea typeface="Urbanist"/>
                <a:cs typeface="Urbanist"/>
                <a:sym typeface="Urbanist"/>
              </a:rPr>
              <a:t>Representação:</a:t>
            </a:r>
            <a:r>
              <a:rPr lang="en-US" sz="1650" b="0" i="0" u="none" strike="noStrike" cap="none">
                <a:solidFill>
                  <a:srgbClr val="94A3B8"/>
                </a:solidFill>
                <a:latin typeface="Urbanist"/>
                <a:ea typeface="Urbanist"/>
                <a:cs typeface="Urbanist"/>
                <a:sym typeface="Urbanist"/>
              </a:rPr>
              <a:t> Um retângulo com o nome no singular.</a:t>
            </a:r>
            <a:endParaRPr/>
          </a:p>
        </p:txBody>
      </p:sp>
      <p:sp>
        <p:nvSpPr>
          <p:cNvPr id="116" name="Google Shape;116;p15"/>
          <p:cNvSpPr txBox="1"/>
          <p:nvPr/>
        </p:nvSpPr>
        <p:spPr>
          <a:xfrm>
            <a:off x="581025" y="4105275"/>
            <a:ext cx="5229225" cy="314325"/>
          </a:xfrm>
          <a:prstGeom prst="rect">
            <a:avLst/>
          </a:prstGeom>
          <a:noFill/>
          <a:ln>
            <a:noFill/>
          </a:ln>
        </p:spPr>
        <p:txBody>
          <a:bodyPr spcFirstLastPara="1" wrap="square" lIns="180975" tIns="0" rIns="0" bIns="0" anchor="t" anchorCtr="0">
            <a:spAutoFit/>
          </a:bodyPr>
          <a:lstStyle/>
          <a:p>
            <a:pPr marL="0" marR="0" lvl="0" indent="0" algn="l" rtl="0">
              <a:lnSpc>
                <a:spcPct val="150000"/>
              </a:lnSpc>
              <a:spcBef>
                <a:spcPts val="0"/>
              </a:spcBef>
              <a:spcAft>
                <a:spcPts val="0"/>
              </a:spcAft>
              <a:buNone/>
            </a:pPr>
            <a:r>
              <a:rPr lang="en-US" sz="1650" b="1" i="0" u="none" strike="noStrike" cap="none">
                <a:solidFill>
                  <a:srgbClr val="94A3B8"/>
                </a:solidFill>
                <a:latin typeface="Urbanist"/>
                <a:ea typeface="Urbanist"/>
                <a:cs typeface="Urbanist"/>
                <a:sym typeface="Urbanist"/>
              </a:rPr>
              <a:t>Exemplos:</a:t>
            </a:r>
            <a:r>
              <a:rPr lang="en-US" sz="1650" b="0" i="0" u="none" strike="noStrike" cap="none">
                <a:solidFill>
                  <a:srgbClr val="94A3B8"/>
                </a:solidFill>
                <a:latin typeface="Urbanist"/>
                <a:ea typeface="Urbanist"/>
                <a:cs typeface="Urbanist"/>
                <a:sym typeface="Urbanist"/>
              </a:rPr>
              <a:t> ALUNO, PRODUTO, VENDA, LIVRO.</a:t>
            </a:r>
            <a:endParaRPr/>
          </a:p>
        </p:txBody>
      </p:sp>
      <p:sp>
        <p:nvSpPr>
          <p:cNvPr id="117" name="Google Shape;117;p15"/>
          <p:cNvSpPr txBox="1"/>
          <p:nvPr/>
        </p:nvSpPr>
        <p:spPr>
          <a:xfrm>
            <a:off x="809625" y="5067300"/>
            <a:ext cx="48101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1" u="none" strike="noStrike" cap="none">
                <a:solidFill>
                  <a:srgbClr val="94A3B8"/>
                </a:solidFill>
                <a:latin typeface="Urbanist"/>
                <a:ea typeface="Urbanist"/>
                <a:cs typeface="Urbanist"/>
                <a:sym typeface="Urbanist"/>
              </a:rPr>
              <a:t>Dica: Se você pode dizer "O sistema terá muitos(as) ___", esse ___ provavelmente é uma entidade.</a:t>
            </a:r>
            <a:endParaRPr/>
          </a:p>
        </p:txBody>
      </p:sp>
      <p:pic>
        <p:nvPicPr>
          <p:cNvPr id="118" name="Google Shape;118;p15" descr="image.png"/>
          <p:cNvPicPr preferRelativeResize="0"/>
          <p:nvPr/>
        </p:nvPicPr>
        <p:blipFill rotWithShape="1">
          <a:blip r:embed="rId5">
            <a:alphaModFix/>
          </a:blip>
          <a:srcRect/>
          <a:stretch/>
        </p:blipFill>
        <p:spPr>
          <a:xfrm>
            <a:off x="581025" y="3328987"/>
            <a:ext cx="180975" cy="219075"/>
          </a:xfrm>
          <a:prstGeom prst="rect">
            <a:avLst/>
          </a:prstGeom>
          <a:noFill/>
          <a:ln>
            <a:noFill/>
          </a:ln>
        </p:spPr>
      </p:pic>
      <p:pic>
        <p:nvPicPr>
          <p:cNvPr id="119" name="Google Shape;119;p15" descr="image.png"/>
          <p:cNvPicPr preferRelativeResize="0"/>
          <p:nvPr/>
        </p:nvPicPr>
        <p:blipFill rotWithShape="1">
          <a:blip r:embed="rId5">
            <a:alphaModFix/>
          </a:blip>
          <a:srcRect/>
          <a:stretch/>
        </p:blipFill>
        <p:spPr>
          <a:xfrm>
            <a:off x="581025" y="4148137"/>
            <a:ext cx="180975" cy="219075"/>
          </a:xfrm>
          <a:prstGeom prst="rect">
            <a:avLst/>
          </a:prstGeom>
          <a:noFill/>
          <a:ln>
            <a:noFill/>
          </a:ln>
        </p:spPr>
      </p:pic>
      <p:sp>
        <p:nvSpPr>
          <p:cNvPr id="120" name="Google Shape;120;p15"/>
          <p:cNvSpPr txBox="1"/>
          <p:nvPr/>
        </p:nvSpPr>
        <p:spPr>
          <a:xfrm>
            <a:off x="809625" y="581025"/>
            <a:ext cx="2870358"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1. ENTIDADES</a:t>
            </a:r>
            <a:endParaRPr/>
          </a:p>
        </p:txBody>
      </p:sp>
      <p:sp>
        <p:nvSpPr>
          <p:cNvPr id="121" name="Google Shape;121;p15"/>
          <p:cNvSpPr/>
          <p:nvPr/>
        </p:nvSpPr>
        <p:spPr>
          <a:xfrm>
            <a:off x="581025" y="581025"/>
            <a:ext cx="76200" cy="55245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2" name="Google Shape;122;p15"/>
          <p:cNvPicPr preferRelativeResize="0"/>
          <p:nvPr/>
        </p:nvPicPr>
        <p:blipFill>
          <a:blip r:embed="rId6">
            <a:alphaModFix/>
          </a:blip>
          <a:stretch>
            <a:fillRect/>
          </a:stretch>
        </p:blipFill>
        <p:spPr>
          <a:xfrm>
            <a:off x="7075363" y="2888675"/>
            <a:ext cx="3876675" cy="1638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6"/>
        <p:cNvGrpSpPr/>
        <p:nvPr/>
      </p:nvGrpSpPr>
      <p:grpSpPr>
        <a:xfrm>
          <a:off x="0" y="0"/>
          <a:ext cx="0" cy="0"/>
          <a:chOff x="0" y="0"/>
          <a:chExt cx="0" cy="0"/>
        </a:xfrm>
      </p:grpSpPr>
      <p:pic>
        <p:nvPicPr>
          <p:cNvPr id="127" name="Google Shape;127;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8" name="Google Shape;128;p16"/>
          <p:cNvSpPr txBox="1"/>
          <p:nvPr/>
        </p:nvSpPr>
        <p:spPr>
          <a:xfrm>
            <a:off x="581025" y="2057400"/>
            <a:ext cx="11104200" cy="2539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Font typeface="Arial"/>
              <a:buNone/>
            </a:pPr>
            <a:r>
              <a:rPr lang="en-US" sz="1650">
                <a:solidFill>
                  <a:srgbClr val="94A3B8"/>
                </a:solidFill>
                <a:latin typeface="Urbanist"/>
                <a:ea typeface="Urbanist"/>
                <a:cs typeface="Urbanist"/>
                <a:sym typeface="Urbanist"/>
              </a:rPr>
              <a:t>Suponha que uma empresa hipotética chamada XPT pede para você desenvolver um software para gerenciar seus funcionários. Durante a fase de entrevistas, você irá perguntar o que a empresa deseja armazenar.</a:t>
            </a:r>
            <a:endParaRPr sz="1650">
              <a:solidFill>
                <a:srgbClr val="94A3B8"/>
              </a:solidFill>
              <a:latin typeface="Urbanist"/>
              <a:ea typeface="Urbanist"/>
              <a:cs typeface="Urbanist"/>
              <a:sym typeface="Urbanist"/>
            </a:endParaRPr>
          </a:p>
          <a:p>
            <a:pPr marL="0" marR="0" lvl="0" indent="0" algn="l" rtl="0">
              <a:lnSpc>
                <a:spcPct val="150000"/>
              </a:lnSpc>
              <a:spcBef>
                <a:spcPts val="0"/>
              </a:spcBef>
              <a:spcAft>
                <a:spcPts val="0"/>
              </a:spcAft>
              <a:buClr>
                <a:srgbClr val="000000"/>
              </a:buClr>
              <a:buFont typeface="Arial"/>
              <a:buNone/>
            </a:pPr>
            <a:r>
              <a:rPr lang="en-US" sz="1650">
                <a:solidFill>
                  <a:srgbClr val="94A3B8"/>
                </a:solidFill>
                <a:latin typeface="Urbanist"/>
                <a:ea typeface="Urbanist"/>
                <a:cs typeface="Urbanist"/>
                <a:sym typeface="Urbanist"/>
              </a:rPr>
              <a:t>Uma possível resposta da empresa será: informações sobre empregados, seus dependentes, o departamento de cada empregado etc.</a:t>
            </a:r>
            <a:endParaRPr sz="1650">
              <a:solidFill>
                <a:srgbClr val="94A3B8"/>
              </a:solidFill>
              <a:latin typeface="Urbanist"/>
              <a:ea typeface="Urbanist"/>
              <a:cs typeface="Urbanist"/>
              <a:sym typeface="Urbanist"/>
            </a:endParaRPr>
          </a:p>
          <a:p>
            <a:pPr marL="0" marR="0" lvl="0" indent="0" algn="l" rtl="0">
              <a:lnSpc>
                <a:spcPct val="150000"/>
              </a:lnSpc>
              <a:spcBef>
                <a:spcPts val="0"/>
              </a:spcBef>
              <a:spcAft>
                <a:spcPts val="0"/>
              </a:spcAft>
              <a:buClr>
                <a:srgbClr val="000000"/>
              </a:buClr>
              <a:buFont typeface="Arial"/>
              <a:buNone/>
            </a:pPr>
            <a:r>
              <a:rPr lang="en-US" sz="1650">
                <a:solidFill>
                  <a:srgbClr val="94A3B8"/>
                </a:solidFill>
                <a:latin typeface="Urbanist"/>
                <a:ea typeface="Urbanist"/>
                <a:cs typeface="Urbanist"/>
                <a:sym typeface="Urbanist"/>
              </a:rPr>
              <a:t>Por tal resposta, podemos identificar algumas entidades no nosso modelo ER como: Empregado, Departamento e Dependente</a:t>
            </a:r>
            <a:endParaRPr sz="1650">
              <a:solidFill>
                <a:srgbClr val="94A3B8"/>
              </a:solidFill>
              <a:latin typeface="Urbanist"/>
              <a:ea typeface="Urbanist"/>
              <a:cs typeface="Urbanist"/>
              <a:sym typeface="Urbanist"/>
            </a:endParaRPr>
          </a:p>
          <a:p>
            <a:pPr marL="0" marR="0" lvl="0" indent="0" algn="l" rtl="0">
              <a:lnSpc>
                <a:spcPct val="150000"/>
              </a:lnSpc>
              <a:spcBef>
                <a:spcPts val="0"/>
              </a:spcBef>
              <a:spcAft>
                <a:spcPts val="0"/>
              </a:spcAft>
              <a:buNone/>
            </a:pPr>
            <a:endParaRPr sz="1650">
              <a:solidFill>
                <a:srgbClr val="94A3B8"/>
              </a:solidFill>
              <a:latin typeface="Urbanist"/>
              <a:ea typeface="Urbanist"/>
              <a:cs typeface="Urbanist"/>
              <a:sym typeface="Urbanist"/>
            </a:endParaRPr>
          </a:p>
        </p:txBody>
      </p:sp>
      <p:sp>
        <p:nvSpPr>
          <p:cNvPr id="129" name="Google Shape;129;p16"/>
          <p:cNvSpPr txBox="1"/>
          <p:nvPr/>
        </p:nvSpPr>
        <p:spPr>
          <a:xfrm>
            <a:off x="809625" y="581025"/>
            <a:ext cx="28704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Exemplo</a:t>
            </a:r>
            <a:endParaRPr/>
          </a:p>
        </p:txBody>
      </p:sp>
      <p:sp>
        <p:nvSpPr>
          <p:cNvPr id="130" name="Google Shape;130;p16"/>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1" name="Google Shape;131;p16"/>
          <p:cNvPicPr preferRelativeResize="0"/>
          <p:nvPr/>
        </p:nvPicPr>
        <p:blipFill>
          <a:blip r:embed="rId4">
            <a:alphaModFix/>
          </a:blip>
          <a:stretch>
            <a:fillRect/>
          </a:stretch>
        </p:blipFill>
        <p:spPr>
          <a:xfrm>
            <a:off x="1097988" y="4701150"/>
            <a:ext cx="10070274" cy="1272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35"/>
        <p:cNvGrpSpPr/>
        <p:nvPr/>
      </p:nvGrpSpPr>
      <p:grpSpPr>
        <a:xfrm>
          <a:off x="0" y="0"/>
          <a:ext cx="0" cy="0"/>
          <a:chOff x="0" y="0"/>
          <a:chExt cx="0" cy="0"/>
        </a:xfrm>
      </p:grpSpPr>
      <p:pic>
        <p:nvPicPr>
          <p:cNvPr id="136" name="Google Shape;136;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7" name="Google Shape;137;p17" descr="image.png"/>
          <p:cNvPicPr preferRelativeResize="0"/>
          <p:nvPr/>
        </p:nvPicPr>
        <p:blipFill rotWithShape="1">
          <a:blip r:embed="rId4">
            <a:alphaModFix/>
          </a:blip>
          <a:srcRect/>
          <a:stretch/>
        </p:blipFill>
        <p:spPr>
          <a:xfrm>
            <a:off x="581025" y="1900237"/>
            <a:ext cx="5372100" cy="3086100"/>
          </a:xfrm>
          <a:prstGeom prst="rect">
            <a:avLst/>
          </a:prstGeom>
          <a:noFill/>
          <a:ln>
            <a:noFill/>
          </a:ln>
        </p:spPr>
      </p:pic>
      <p:pic>
        <p:nvPicPr>
          <p:cNvPr id="138" name="Google Shape;138;p17" descr="image.png"/>
          <p:cNvPicPr preferRelativeResize="0"/>
          <p:nvPr/>
        </p:nvPicPr>
        <p:blipFill rotWithShape="1">
          <a:blip r:embed="rId5">
            <a:alphaModFix/>
          </a:blip>
          <a:srcRect/>
          <a:stretch/>
        </p:blipFill>
        <p:spPr>
          <a:xfrm>
            <a:off x="6238875" y="1900237"/>
            <a:ext cx="5372100" cy="3086100"/>
          </a:xfrm>
          <a:prstGeom prst="rect">
            <a:avLst/>
          </a:prstGeom>
          <a:noFill/>
          <a:ln>
            <a:noFill/>
          </a:ln>
        </p:spPr>
      </p:pic>
      <p:sp>
        <p:nvSpPr>
          <p:cNvPr id="139" name="Google Shape;139;p17"/>
          <p:cNvSpPr txBox="1"/>
          <p:nvPr/>
        </p:nvSpPr>
        <p:spPr>
          <a:xfrm>
            <a:off x="581025" y="5367337"/>
            <a:ext cx="1102995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1" i="0" u="none" strike="noStrike" cap="none">
                <a:solidFill>
                  <a:srgbClr val="22D3EE"/>
                </a:solidFill>
                <a:latin typeface="Urbanist"/>
                <a:ea typeface="Urbanist"/>
                <a:cs typeface="Urbanist"/>
                <a:sym typeface="Urbanist"/>
              </a:rPr>
              <a:t>Lembre-se: Cada entidade DEVE ter um atributo identificador (Chave Primária).</a:t>
            </a:r>
            <a:endParaRPr/>
          </a:p>
        </p:txBody>
      </p:sp>
      <p:sp>
        <p:nvSpPr>
          <p:cNvPr id="140" name="Google Shape;140;p17"/>
          <p:cNvSpPr txBox="1"/>
          <p:nvPr/>
        </p:nvSpPr>
        <p:spPr>
          <a:xfrm>
            <a:off x="971550" y="2290762"/>
            <a:ext cx="4820602" cy="314325"/>
          </a:xfrm>
          <a:prstGeom prst="rect">
            <a:avLst/>
          </a:prstGeom>
          <a:noFill/>
          <a:ln>
            <a:noFill/>
          </a:ln>
        </p:spPr>
        <p:txBody>
          <a:bodyPr spcFirstLastPara="1" wrap="square" lIns="304800" tIns="0" rIns="0" bIns="0" anchor="t" anchorCtr="0">
            <a:spAutoFit/>
          </a:bodyPr>
          <a:lstStyle/>
          <a:p>
            <a:pPr marL="0" marR="0" lvl="0" indent="0" algn="l" rtl="0">
              <a:spcBef>
                <a:spcPts val="0"/>
              </a:spcBef>
              <a:spcAft>
                <a:spcPts val="0"/>
              </a:spcAft>
              <a:buNone/>
            </a:pPr>
            <a:r>
              <a:rPr lang="en-US" sz="1404" b="1" i="0" u="none" strike="noStrike" cap="none">
                <a:solidFill>
                  <a:srgbClr val="22D3EE"/>
                </a:solidFill>
                <a:latin typeface="Urbanist"/>
                <a:ea typeface="Urbanist"/>
                <a:cs typeface="Urbanist"/>
                <a:sym typeface="Urbanist"/>
              </a:rPr>
              <a:t>Definição</a:t>
            </a:r>
            <a:endParaRPr/>
          </a:p>
        </p:txBody>
      </p:sp>
      <p:sp>
        <p:nvSpPr>
          <p:cNvPr id="141" name="Google Shape;141;p17"/>
          <p:cNvSpPr txBox="1"/>
          <p:nvPr/>
        </p:nvSpPr>
        <p:spPr>
          <a:xfrm>
            <a:off x="971550" y="2814637"/>
            <a:ext cx="4591050" cy="1571625"/>
          </a:xfrm>
          <a:prstGeom prst="rect">
            <a:avLst/>
          </a:prstGeom>
          <a:noFill/>
          <a:ln>
            <a:noFill/>
          </a:ln>
        </p:spPr>
        <p:txBody>
          <a:bodyPr spcFirstLastPara="1" wrap="square" lIns="0" tIns="0" rIns="0" bIns="0" anchor="t" anchorCtr="0">
            <a:spAutoFit/>
          </a:bodyPr>
          <a:lstStyle/>
          <a:p>
            <a:pPr marL="0" marR="0" lvl="0" indent="0" algn="l" rtl="0">
              <a:lnSpc>
                <a:spcPct val="137500"/>
              </a:lnSpc>
              <a:spcBef>
                <a:spcPts val="0"/>
              </a:spcBef>
              <a:spcAft>
                <a:spcPts val="0"/>
              </a:spcAft>
              <a:buNone/>
            </a:pPr>
            <a:r>
              <a:rPr lang="en-US" sz="1650" b="0" i="0" u="none" strike="noStrike" cap="none">
                <a:solidFill>
                  <a:srgbClr val="94A3B8"/>
                </a:solidFill>
                <a:latin typeface="Urbanist"/>
                <a:ea typeface="Urbanist"/>
                <a:cs typeface="Urbanist"/>
                <a:sym typeface="Urbanist"/>
              </a:rPr>
              <a:t>São as características específicas de uma entidade. </a:t>
            </a:r>
            <a:r>
              <a:rPr lang="en-US" sz="1800" b="0" i="0" u="none" strike="noStrike" cap="none">
                <a:solidFill>
                  <a:schemeClr val="dk1"/>
                </a:solidFill>
                <a:latin typeface="Calibri"/>
                <a:ea typeface="Calibri"/>
                <a:cs typeface="Calibri"/>
                <a:sym typeface="Calibri"/>
              </a:rPr>
              <a:t/>
            </a:r>
            <a:br>
              <a:rPr lang="en-US" sz="18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
            </a:r>
            <a:br>
              <a:rPr lang="en-US" sz="1800" b="0" i="0" u="none" strike="noStrike" cap="none">
                <a:solidFill>
                  <a:schemeClr val="dk1"/>
                </a:solidFill>
                <a:latin typeface="Calibri"/>
                <a:ea typeface="Calibri"/>
                <a:cs typeface="Calibri"/>
                <a:sym typeface="Calibri"/>
              </a:rPr>
            </a:br>
            <a:r>
              <a:rPr lang="en-US" sz="1650" b="1" i="0" u="none" strike="noStrike" cap="none">
                <a:solidFill>
                  <a:srgbClr val="94A3B8"/>
                </a:solidFill>
                <a:latin typeface="Urbanist"/>
                <a:ea typeface="Urbanist"/>
                <a:cs typeface="Urbanist"/>
                <a:sym typeface="Urbanist"/>
              </a:rPr>
              <a:t>Exemplo (ALUNO):</a:t>
            </a:r>
            <a:r>
              <a:rPr lang="en-US" sz="1650" b="0" i="0" u="none" strike="noStrike" cap="none">
                <a:solidFill>
                  <a:srgbClr val="94A3B8"/>
                </a:solidFill>
                <a:latin typeface="Urbanist"/>
                <a:ea typeface="Urbanist"/>
                <a:cs typeface="Urbanist"/>
                <a:sym typeface="Urbanist"/>
              </a:rPr>
              <a:t> </a:t>
            </a:r>
            <a:r>
              <a:rPr lang="en-US" sz="1800" b="0" i="0" u="none" strike="noStrike" cap="none">
                <a:solidFill>
                  <a:schemeClr val="dk1"/>
                </a:solidFill>
                <a:latin typeface="Calibri"/>
                <a:ea typeface="Calibri"/>
                <a:cs typeface="Calibri"/>
                <a:sym typeface="Calibri"/>
              </a:rPr>
              <a:t/>
            </a:r>
            <a:br>
              <a:rPr lang="en-US" sz="1800" b="0" i="0" u="none" strike="noStrike" cap="none">
                <a:solidFill>
                  <a:schemeClr val="dk1"/>
                </a:solidFill>
                <a:latin typeface="Calibri"/>
                <a:ea typeface="Calibri"/>
                <a:cs typeface="Calibri"/>
                <a:sym typeface="Calibri"/>
              </a:rPr>
            </a:br>
            <a:r>
              <a:rPr lang="en-US" sz="1650" b="0" i="0" u="none" strike="noStrike" cap="none">
                <a:solidFill>
                  <a:srgbClr val="94A3B8"/>
                </a:solidFill>
                <a:latin typeface="Urbanist"/>
                <a:ea typeface="Urbanist"/>
                <a:cs typeface="Urbanist"/>
                <a:sym typeface="Urbanist"/>
              </a:rPr>
              <a:t> Nome, CPF, Data de Nascimento, Matrícula.</a:t>
            </a:r>
            <a:endParaRPr/>
          </a:p>
        </p:txBody>
      </p:sp>
      <p:sp>
        <p:nvSpPr>
          <p:cNvPr id="142" name="Google Shape;142;p17"/>
          <p:cNvSpPr txBox="1"/>
          <p:nvPr/>
        </p:nvSpPr>
        <p:spPr>
          <a:xfrm>
            <a:off x="6629400" y="2290762"/>
            <a:ext cx="4820602" cy="314325"/>
          </a:xfrm>
          <a:prstGeom prst="rect">
            <a:avLst/>
          </a:prstGeom>
          <a:noFill/>
          <a:ln>
            <a:noFill/>
          </a:ln>
        </p:spPr>
        <p:txBody>
          <a:bodyPr spcFirstLastPara="1" wrap="square" lIns="342900" tIns="0" rIns="0" bIns="0" anchor="t" anchorCtr="0">
            <a:spAutoFit/>
          </a:bodyPr>
          <a:lstStyle/>
          <a:p>
            <a:pPr marL="0" marR="0" lvl="0" indent="0" algn="l" rtl="0">
              <a:spcBef>
                <a:spcPts val="0"/>
              </a:spcBef>
              <a:spcAft>
                <a:spcPts val="0"/>
              </a:spcAft>
              <a:buNone/>
            </a:pPr>
            <a:r>
              <a:rPr lang="en-US" sz="1404" b="1" i="0" u="none" strike="noStrike" cap="none">
                <a:solidFill>
                  <a:srgbClr val="22D3EE"/>
                </a:solidFill>
                <a:latin typeface="Urbanist"/>
                <a:ea typeface="Urbanist"/>
                <a:cs typeface="Urbanist"/>
                <a:sym typeface="Urbanist"/>
              </a:rPr>
              <a:t>Representação</a:t>
            </a:r>
            <a:endParaRPr/>
          </a:p>
        </p:txBody>
      </p:sp>
      <p:sp>
        <p:nvSpPr>
          <p:cNvPr id="143" name="Google Shape;143;p17"/>
          <p:cNvSpPr txBox="1"/>
          <p:nvPr/>
        </p:nvSpPr>
        <p:spPr>
          <a:xfrm>
            <a:off x="6629400" y="2814637"/>
            <a:ext cx="4591050" cy="9429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94A3B8"/>
                </a:solidFill>
                <a:latin typeface="Urbanist"/>
                <a:ea typeface="Urbanist"/>
                <a:cs typeface="Urbanist"/>
                <a:sym typeface="Urbanist"/>
              </a:rPr>
              <a:t>Representados por elipses (ovais) ligadas à entidade ou por uma lista detalhada no modelo conceitual.</a:t>
            </a:r>
            <a:endParaRPr/>
          </a:p>
        </p:txBody>
      </p:sp>
      <p:pic>
        <p:nvPicPr>
          <p:cNvPr id="144" name="Google Shape;144;p17" descr="image.png"/>
          <p:cNvPicPr preferRelativeResize="0"/>
          <p:nvPr/>
        </p:nvPicPr>
        <p:blipFill rotWithShape="1">
          <a:blip r:embed="rId6">
            <a:alphaModFix/>
          </a:blip>
          <a:srcRect/>
          <a:stretch/>
        </p:blipFill>
        <p:spPr>
          <a:xfrm>
            <a:off x="971550" y="2290762"/>
            <a:ext cx="304800" cy="304800"/>
          </a:xfrm>
          <a:prstGeom prst="rect">
            <a:avLst/>
          </a:prstGeom>
          <a:noFill/>
          <a:ln>
            <a:noFill/>
          </a:ln>
        </p:spPr>
      </p:pic>
      <p:pic>
        <p:nvPicPr>
          <p:cNvPr id="145" name="Google Shape;145;p17" descr="image.png"/>
          <p:cNvPicPr preferRelativeResize="0"/>
          <p:nvPr/>
        </p:nvPicPr>
        <p:blipFill rotWithShape="1">
          <a:blip r:embed="rId7">
            <a:alphaModFix/>
          </a:blip>
          <a:srcRect/>
          <a:stretch/>
        </p:blipFill>
        <p:spPr>
          <a:xfrm>
            <a:off x="6629400" y="2290762"/>
            <a:ext cx="342900" cy="304800"/>
          </a:xfrm>
          <a:prstGeom prst="rect">
            <a:avLst/>
          </a:prstGeom>
          <a:noFill/>
          <a:ln>
            <a:noFill/>
          </a:ln>
        </p:spPr>
      </p:pic>
      <p:sp>
        <p:nvSpPr>
          <p:cNvPr id="146" name="Google Shape;146;p17"/>
          <p:cNvSpPr txBox="1"/>
          <p:nvPr/>
        </p:nvSpPr>
        <p:spPr>
          <a:xfrm>
            <a:off x="809625" y="581025"/>
            <a:ext cx="304038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2. ATRIBUTOS</a:t>
            </a:r>
            <a:endParaRPr/>
          </a:p>
        </p:txBody>
      </p:sp>
      <p:sp>
        <p:nvSpPr>
          <p:cNvPr id="147" name="Google Shape;147;p17"/>
          <p:cNvSpPr/>
          <p:nvPr/>
        </p:nvSpPr>
        <p:spPr>
          <a:xfrm>
            <a:off x="581025" y="581025"/>
            <a:ext cx="76200" cy="55245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51"/>
        <p:cNvGrpSpPr/>
        <p:nvPr/>
      </p:nvGrpSpPr>
      <p:grpSpPr>
        <a:xfrm>
          <a:off x="0" y="0"/>
          <a:ext cx="0" cy="0"/>
          <a:chOff x="0" y="0"/>
          <a:chExt cx="0" cy="0"/>
        </a:xfrm>
      </p:grpSpPr>
      <p:pic>
        <p:nvPicPr>
          <p:cNvPr id="152" name="Google Shape;152;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3" name="Google Shape;153;p18"/>
          <p:cNvSpPr txBox="1"/>
          <p:nvPr/>
        </p:nvSpPr>
        <p:spPr>
          <a:xfrm>
            <a:off x="581025" y="2057400"/>
            <a:ext cx="5847600" cy="4063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a:solidFill>
                  <a:srgbClr val="94A3B8"/>
                </a:solidFill>
                <a:latin typeface="Urbanist"/>
                <a:ea typeface="Urbanist"/>
                <a:cs typeface="Urbanist"/>
                <a:sym typeface="Urbanist"/>
              </a:rPr>
              <a:t>Voltando ao exemplo da empresa hipotética XPT. Para saber quais são os atributos de uma entidade, você deve perguntar a empresa que informações a empresa precisa guardar sobre seus empregados.</a:t>
            </a:r>
            <a:endParaRPr sz="1650">
              <a:solidFill>
                <a:srgbClr val="94A3B8"/>
              </a:solidFill>
              <a:latin typeface="Urbanist"/>
              <a:ea typeface="Urbanist"/>
              <a:cs typeface="Urbanist"/>
              <a:sym typeface="Urbanist"/>
            </a:endParaRPr>
          </a:p>
          <a:p>
            <a:pPr marL="0" marR="0" lvl="0" indent="0" algn="l" rtl="0">
              <a:lnSpc>
                <a:spcPct val="150000"/>
              </a:lnSpc>
              <a:spcBef>
                <a:spcPts val="0"/>
              </a:spcBef>
              <a:spcAft>
                <a:spcPts val="0"/>
              </a:spcAft>
              <a:buNone/>
            </a:pPr>
            <a:endParaRPr sz="1650">
              <a:solidFill>
                <a:srgbClr val="94A3B8"/>
              </a:solidFill>
              <a:latin typeface="Urbanist"/>
              <a:ea typeface="Urbanist"/>
              <a:cs typeface="Urbanist"/>
              <a:sym typeface="Urbanist"/>
            </a:endParaRPr>
          </a:p>
          <a:p>
            <a:pPr marL="0" marR="0" lvl="0" indent="0" algn="l" rtl="0">
              <a:lnSpc>
                <a:spcPct val="150000"/>
              </a:lnSpc>
              <a:spcBef>
                <a:spcPts val="0"/>
              </a:spcBef>
              <a:spcAft>
                <a:spcPts val="0"/>
              </a:spcAft>
              <a:buClr>
                <a:srgbClr val="000000"/>
              </a:buClr>
              <a:buFont typeface="Arial"/>
              <a:buNone/>
            </a:pPr>
            <a:r>
              <a:rPr lang="en-US" sz="1650">
                <a:solidFill>
                  <a:srgbClr val="94A3B8"/>
                </a:solidFill>
                <a:latin typeface="Urbanist"/>
                <a:ea typeface="Urbanist"/>
                <a:cs typeface="Urbanist"/>
                <a:sym typeface="Urbanist"/>
              </a:rPr>
              <a:t>Uma possível resposta seria: Matricula, Nome, Sexo, Endereço, Salário, Data de Nascimento etc. Essas informações guardadas pela empresa sobre os empregados são os atributos da entidade Empregado.</a:t>
            </a:r>
            <a:endParaRPr sz="1650">
              <a:solidFill>
                <a:srgbClr val="94A3B8"/>
              </a:solidFill>
              <a:latin typeface="Urbanist"/>
              <a:ea typeface="Urbanist"/>
              <a:cs typeface="Urbanist"/>
              <a:sym typeface="Urbanist"/>
            </a:endParaRPr>
          </a:p>
          <a:p>
            <a:pPr marL="0" marR="0" lvl="0" indent="0" algn="l" rtl="0">
              <a:lnSpc>
                <a:spcPct val="150000"/>
              </a:lnSpc>
              <a:spcBef>
                <a:spcPts val="0"/>
              </a:spcBef>
              <a:spcAft>
                <a:spcPts val="0"/>
              </a:spcAft>
              <a:buNone/>
            </a:pPr>
            <a:endParaRPr sz="1650">
              <a:solidFill>
                <a:srgbClr val="94A3B8"/>
              </a:solidFill>
              <a:latin typeface="Urbanist"/>
              <a:ea typeface="Urbanist"/>
              <a:cs typeface="Urbanist"/>
              <a:sym typeface="Urbanist"/>
            </a:endParaRPr>
          </a:p>
          <a:p>
            <a:pPr marL="0" marR="0" lvl="0" indent="0" algn="l" rtl="0">
              <a:lnSpc>
                <a:spcPct val="150000"/>
              </a:lnSpc>
              <a:spcBef>
                <a:spcPts val="0"/>
              </a:spcBef>
              <a:spcAft>
                <a:spcPts val="0"/>
              </a:spcAft>
              <a:buNone/>
            </a:pPr>
            <a:endParaRPr sz="1650">
              <a:solidFill>
                <a:srgbClr val="94A3B8"/>
              </a:solidFill>
              <a:latin typeface="Urbanist"/>
              <a:ea typeface="Urbanist"/>
              <a:cs typeface="Urbanist"/>
              <a:sym typeface="Urbanist"/>
            </a:endParaRPr>
          </a:p>
        </p:txBody>
      </p:sp>
      <p:sp>
        <p:nvSpPr>
          <p:cNvPr id="154" name="Google Shape;154;p18"/>
          <p:cNvSpPr txBox="1"/>
          <p:nvPr/>
        </p:nvSpPr>
        <p:spPr>
          <a:xfrm>
            <a:off x="809625" y="581025"/>
            <a:ext cx="28704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Exemplo</a:t>
            </a:r>
            <a:endParaRPr/>
          </a:p>
        </p:txBody>
      </p:sp>
      <p:sp>
        <p:nvSpPr>
          <p:cNvPr id="155" name="Google Shape;155;p18"/>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6" name="Google Shape;156;p18"/>
          <p:cNvPicPr preferRelativeResize="0"/>
          <p:nvPr/>
        </p:nvPicPr>
        <p:blipFill>
          <a:blip r:embed="rId4">
            <a:alphaModFix/>
          </a:blip>
          <a:stretch>
            <a:fillRect/>
          </a:stretch>
        </p:blipFill>
        <p:spPr>
          <a:xfrm>
            <a:off x="7397800" y="1469875"/>
            <a:ext cx="4002501" cy="4651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0"/>
        <p:cNvGrpSpPr/>
        <p:nvPr/>
      </p:nvGrpSpPr>
      <p:grpSpPr>
        <a:xfrm>
          <a:off x="0" y="0"/>
          <a:ext cx="0" cy="0"/>
          <a:chOff x="0" y="0"/>
          <a:chExt cx="0" cy="0"/>
        </a:xfrm>
      </p:grpSpPr>
      <p:pic>
        <p:nvPicPr>
          <p:cNvPr id="161" name="Google Shape;161;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2" name="Google Shape;162;p19"/>
          <p:cNvSpPr txBox="1"/>
          <p:nvPr/>
        </p:nvSpPr>
        <p:spPr>
          <a:xfrm>
            <a:off x="809625" y="581025"/>
            <a:ext cx="4002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Representação 2</a:t>
            </a:r>
            <a:endParaRPr/>
          </a:p>
        </p:txBody>
      </p:sp>
      <p:sp>
        <p:nvSpPr>
          <p:cNvPr id="163" name="Google Shape;163;p19"/>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4" name="Google Shape;164;p19"/>
          <p:cNvPicPr preferRelativeResize="0"/>
          <p:nvPr/>
        </p:nvPicPr>
        <p:blipFill>
          <a:blip r:embed="rId4">
            <a:alphaModFix/>
          </a:blip>
          <a:stretch>
            <a:fillRect/>
          </a:stretch>
        </p:blipFill>
        <p:spPr>
          <a:xfrm>
            <a:off x="581037" y="1818726"/>
            <a:ext cx="10970826" cy="3977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8"/>
        <p:cNvGrpSpPr/>
        <p:nvPr/>
      </p:nvGrpSpPr>
      <p:grpSpPr>
        <a:xfrm>
          <a:off x="0" y="0"/>
          <a:ext cx="0" cy="0"/>
          <a:chOff x="0" y="0"/>
          <a:chExt cx="0" cy="0"/>
        </a:xfrm>
      </p:grpSpPr>
      <p:pic>
        <p:nvPicPr>
          <p:cNvPr id="169" name="Google Shape;169;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0" name="Google Shape;170;p20"/>
          <p:cNvSpPr txBox="1"/>
          <p:nvPr/>
        </p:nvSpPr>
        <p:spPr>
          <a:xfrm>
            <a:off x="809625" y="581025"/>
            <a:ext cx="28704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Classificação</a:t>
            </a:r>
            <a:endParaRPr/>
          </a:p>
        </p:txBody>
      </p:sp>
      <p:sp>
        <p:nvSpPr>
          <p:cNvPr id="171" name="Google Shape;171;p20"/>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72" name="Google Shape;172;p20"/>
          <p:cNvGraphicFramePr/>
          <p:nvPr/>
        </p:nvGraphicFramePr>
        <p:xfrm>
          <a:off x="2210800" y="2321625"/>
          <a:ext cx="3000000" cy="3000000"/>
        </p:xfrm>
        <a:graphic>
          <a:graphicData uri="http://schemas.openxmlformats.org/drawingml/2006/table">
            <a:tbl>
              <a:tblPr>
                <a:noFill/>
                <a:tableStyleId>{D6C430D5-EB40-4A22-B546-3419E6079C9D}</a:tableStyleId>
              </a:tblPr>
              <a:tblGrid>
                <a:gridCol w="4067175">
                  <a:extLst>
                    <a:ext uri="{9D8B030D-6E8A-4147-A177-3AD203B41FA5}">
                      <a16:colId xmlns:a16="http://schemas.microsoft.com/office/drawing/2014/main" val="20000"/>
                    </a:ext>
                  </a:extLst>
                </a:gridCol>
                <a:gridCol w="4067175">
                  <a:extLst>
                    <a:ext uri="{9D8B030D-6E8A-4147-A177-3AD203B41FA5}">
                      <a16:colId xmlns:a16="http://schemas.microsoft.com/office/drawing/2014/main" val="20001"/>
                    </a:ext>
                  </a:extLst>
                </a:gridCol>
              </a:tblGrid>
              <a:tr h="371475">
                <a:tc>
                  <a:txBody>
                    <a:bodyPr/>
                    <a:lstStyle/>
                    <a:p>
                      <a:pPr marL="0" lvl="0" indent="0" algn="l" rtl="0">
                        <a:lnSpc>
                          <a:spcPct val="115000"/>
                        </a:lnSpc>
                        <a:spcBef>
                          <a:spcPts val="0"/>
                        </a:spcBef>
                        <a:spcAft>
                          <a:spcPts val="0"/>
                        </a:spcAft>
                        <a:buNone/>
                      </a:pPr>
                      <a:r>
                        <a:rPr lang="en-US" sz="1800" b="1">
                          <a:solidFill>
                            <a:srgbClr val="FFFFFF"/>
                          </a:solidFill>
                        </a:rPr>
                        <a:t>Atributo simples</a:t>
                      </a:r>
                      <a:endParaRPr sz="1800" b="1">
                        <a:solidFill>
                          <a:srgbClr val="FFFFFF"/>
                        </a:solidFill>
                      </a:endParaRPr>
                    </a:p>
                  </a:txBody>
                  <a:tcPr marL="91425" marR="91425" marT="91425" marB="91425">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28575" cap="flat" cmpd="sng">
                      <a:solidFill>
                        <a:schemeClr val="dk2"/>
                      </a:solidFill>
                      <a:prstDash val="solid"/>
                      <a:round/>
                      <a:headEnd type="none" w="sm" len="sm"/>
                      <a:tailEnd type="none" w="sm" len="sm"/>
                    </a:lnT>
                    <a:lnB w="9525" cap="flat" cmpd="sng">
                      <a:solidFill>
                        <a:srgbClr val="434343"/>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US" sz="1800" b="1">
                          <a:solidFill>
                            <a:srgbClr val="FFFFFF"/>
                          </a:solidFill>
                        </a:rPr>
                        <a:t>Atributo composto</a:t>
                      </a:r>
                      <a:endParaRPr sz="1800" b="1">
                        <a:solidFill>
                          <a:srgbClr val="FFFFFF"/>
                        </a:solidFill>
                      </a:endParaRPr>
                    </a:p>
                  </a:txBody>
                  <a:tcPr marL="91425" marR="91425" marT="91425" marB="91425">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1657350">
                <a:tc>
                  <a:txBody>
                    <a:bodyPr/>
                    <a:lstStyle/>
                    <a:p>
                      <a:pPr marL="0" lvl="0" indent="0" algn="l" rtl="0">
                        <a:lnSpc>
                          <a:spcPct val="115000"/>
                        </a:lnSpc>
                        <a:spcBef>
                          <a:spcPts val="0"/>
                        </a:spcBef>
                        <a:spcAft>
                          <a:spcPts val="0"/>
                        </a:spcAft>
                        <a:buNone/>
                      </a:pPr>
                      <a:r>
                        <a:rPr lang="en-US" sz="1650">
                          <a:solidFill>
                            <a:srgbClr val="94A3B8"/>
                          </a:solidFill>
                          <a:latin typeface="Urbanist"/>
                          <a:ea typeface="Urbanist"/>
                          <a:cs typeface="Urbanist"/>
                          <a:sym typeface="Urbanist"/>
                        </a:rPr>
                        <a:t>Ocorre quando uma característica da entidade é representada por um único atributo. Por exemplo, na entidade Empregado, temos os seguintes atributos simples: Matricula, Nome, Sexo, Endereço e Salário</a:t>
                      </a:r>
                      <a:r>
                        <a:rPr lang="en-US" sz="1800"/>
                        <a:t>.</a:t>
                      </a:r>
                      <a:endParaRPr sz="1800"/>
                    </a:p>
                  </a:txBody>
                  <a:tcPr marL="91425" marR="91425" marT="91425" marB="91425">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50">
                          <a:solidFill>
                            <a:srgbClr val="94A3B8"/>
                          </a:solidFill>
                          <a:latin typeface="Urbanist"/>
                          <a:ea typeface="Urbanist"/>
                          <a:cs typeface="Urbanist"/>
                          <a:sym typeface="Urbanist"/>
                        </a:rPr>
                        <a:t>O seu conteúdo é formado por vários itens menores, por isso, o chamamos de atributo composto.</a:t>
                      </a:r>
                      <a:endParaRPr sz="1800"/>
                    </a:p>
                  </a:txBody>
                  <a:tcPr marL="91425" marR="91425" marT="91425" marB="91425">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73" name="Google Shape;173;p20"/>
          <p:cNvSpPr txBox="1"/>
          <p:nvPr/>
        </p:nvSpPr>
        <p:spPr>
          <a:xfrm>
            <a:off x="1137725" y="5025000"/>
            <a:ext cx="10081500" cy="8301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600"/>
              </a:spcBef>
              <a:spcAft>
                <a:spcPts val="600"/>
              </a:spcAft>
              <a:buNone/>
            </a:pPr>
            <a:r>
              <a:rPr lang="en-US" sz="1950" b="1">
                <a:solidFill>
                  <a:srgbClr val="94A3B8"/>
                </a:solidFill>
                <a:latin typeface="Urbanist"/>
                <a:ea typeface="Urbanist"/>
                <a:cs typeface="Urbanist"/>
                <a:sym typeface="Urbanist"/>
              </a:rPr>
              <a:t>Exemplo: </a:t>
            </a:r>
            <a:r>
              <a:rPr lang="en-US" sz="1950">
                <a:solidFill>
                  <a:srgbClr val="94A3B8"/>
                </a:solidFill>
                <a:latin typeface="Urbanist"/>
                <a:ea typeface="Urbanist"/>
                <a:cs typeface="Urbanist"/>
                <a:sym typeface="Urbanist"/>
              </a:rPr>
              <a:t>em algumas empresas, o atributo Endereço é composto por informações, como: Rua, Número, Bairro e CEP.</a:t>
            </a:r>
            <a:endParaRPr sz="27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7"/>
        <p:cNvGrpSpPr/>
        <p:nvPr/>
      </p:nvGrpSpPr>
      <p:grpSpPr>
        <a:xfrm>
          <a:off x="0" y="0"/>
          <a:ext cx="0" cy="0"/>
          <a:chOff x="0" y="0"/>
          <a:chExt cx="0" cy="0"/>
        </a:xfrm>
      </p:grpSpPr>
      <p:pic>
        <p:nvPicPr>
          <p:cNvPr id="178" name="Google Shape;178;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9" name="Google Shape;179;p21"/>
          <p:cNvSpPr txBox="1"/>
          <p:nvPr/>
        </p:nvSpPr>
        <p:spPr>
          <a:xfrm>
            <a:off x="809625" y="581025"/>
            <a:ext cx="4002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Representação</a:t>
            </a:r>
            <a:endParaRPr/>
          </a:p>
        </p:txBody>
      </p:sp>
      <p:sp>
        <p:nvSpPr>
          <p:cNvPr id="180" name="Google Shape;180;p21"/>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1" name="Google Shape;181;p21"/>
          <p:cNvPicPr preferRelativeResize="0"/>
          <p:nvPr/>
        </p:nvPicPr>
        <p:blipFill>
          <a:blip r:embed="rId4">
            <a:alphaModFix/>
          </a:blip>
          <a:stretch>
            <a:fillRect/>
          </a:stretch>
        </p:blipFill>
        <p:spPr>
          <a:xfrm>
            <a:off x="3419421" y="1737800"/>
            <a:ext cx="4987150" cy="37930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85"/>
        <p:cNvGrpSpPr/>
        <p:nvPr/>
      </p:nvGrpSpPr>
      <p:grpSpPr>
        <a:xfrm>
          <a:off x="0" y="0"/>
          <a:ext cx="0" cy="0"/>
          <a:chOff x="0" y="0"/>
          <a:chExt cx="0" cy="0"/>
        </a:xfrm>
      </p:grpSpPr>
      <p:pic>
        <p:nvPicPr>
          <p:cNvPr id="186" name="Google Shape;186;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7" name="Google Shape;187;p22"/>
          <p:cNvSpPr txBox="1"/>
          <p:nvPr/>
        </p:nvSpPr>
        <p:spPr>
          <a:xfrm>
            <a:off x="809625" y="581025"/>
            <a:ext cx="4002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Representação 2</a:t>
            </a:r>
            <a:endParaRPr/>
          </a:p>
        </p:txBody>
      </p:sp>
      <p:sp>
        <p:nvSpPr>
          <p:cNvPr id="188" name="Google Shape;188;p22"/>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9" name="Google Shape;189;p22"/>
          <p:cNvPicPr preferRelativeResize="0"/>
          <p:nvPr/>
        </p:nvPicPr>
        <p:blipFill>
          <a:blip r:embed="rId4">
            <a:alphaModFix/>
          </a:blip>
          <a:stretch>
            <a:fillRect/>
          </a:stretch>
        </p:blipFill>
        <p:spPr>
          <a:xfrm>
            <a:off x="617850" y="1300000"/>
            <a:ext cx="10956299" cy="425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3"/>
        <p:cNvGrpSpPr/>
        <p:nvPr/>
      </p:nvGrpSpPr>
      <p:grpSpPr>
        <a:xfrm>
          <a:off x="0" y="0"/>
          <a:ext cx="0" cy="0"/>
          <a:chOff x="0" y="0"/>
          <a:chExt cx="0" cy="0"/>
        </a:xfrm>
      </p:grpSpPr>
      <p:pic>
        <p:nvPicPr>
          <p:cNvPr id="194" name="Google Shape;194;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5" name="Google Shape;195;p23"/>
          <p:cNvSpPr txBox="1"/>
          <p:nvPr/>
        </p:nvSpPr>
        <p:spPr>
          <a:xfrm>
            <a:off x="809625" y="581025"/>
            <a:ext cx="28704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Classificação</a:t>
            </a:r>
            <a:endParaRPr/>
          </a:p>
        </p:txBody>
      </p:sp>
      <p:sp>
        <p:nvSpPr>
          <p:cNvPr id="196" name="Google Shape;196;p23"/>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97" name="Google Shape;197;p23"/>
          <p:cNvGraphicFramePr/>
          <p:nvPr/>
        </p:nvGraphicFramePr>
        <p:xfrm>
          <a:off x="4062413" y="2351738"/>
          <a:ext cx="3000000" cy="3000000"/>
        </p:xfrm>
        <a:graphic>
          <a:graphicData uri="http://schemas.openxmlformats.org/drawingml/2006/table">
            <a:tbl>
              <a:tblPr>
                <a:noFill/>
                <a:tableStyleId>{D6C430D5-EB40-4A22-B546-3419E6079C9D}</a:tableStyleId>
              </a:tblPr>
              <a:tblGrid>
                <a:gridCol w="4067175">
                  <a:extLst>
                    <a:ext uri="{9D8B030D-6E8A-4147-A177-3AD203B41FA5}">
                      <a16:colId xmlns:a16="http://schemas.microsoft.com/office/drawing/2014/main" val="20000"/>
                    </a:ext>
                  </a:extLst>
                </a:gridCol>
              </a:tblGrid>
              <a:tr h="371475">
                <a:tc>
                  <a:txBody>
                    <a:bodyPr/>
                    <a:lstStyle/>
                    <a:p>
                      <a:pPr marL="0" lvl="0" indent="0" algn="l" rtl="0">
                        <a:lnSpc>
                          <a:spcPct val="115000"/>
                        </a:lnSpc>
                        <a:spcBef>
                          <a:spcPts val="0"/>
                        </a:spcBef>
                        <a:spcAft>
                          <a:spcPts val="0"/>
                        </a:spcAft>
                        <a:buNone/>
                      </a:pPr>
                      <a:r>
                        <a:rPr lang="en-US" sz="1800" b="1">
                          <a:solidFill>
                            <a:srgbClr val="FFFFFF"/>
                          </a:solidFill>
                        </a:rPr>
                        <a:t>Atributo multivalorado</a:t>
                      </a:r>
                      <a:endParaRPr sz="1800" b="1">
                        <a:solidFill>
                          <a:srgbClr val="FFFFFF"/>
                        </a:solidFill>
                      </a:endParaRPr>
                    </a:p>
                  </a:txBody>
                  <a:tcPr marL="91425" marR="91425" marT="91425" marB="91425">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28575" cap="flat" cmpd="sng">
                      <a:solidFill>
                        <a:schemeClr val="dk2"/>
                      </a:solidFill>
                      <a:prstDash val="solid"/>
                      <a:round/>
                      <a:headEnd type="none" w="sm" len="sm"/>
                      <a:tailEnd type="none" w="sm" len="sm"/>
                    </a:lnT>
                    <a:lnB w="9525" cap="flat" cmpd="sng">
                      <a:solidFill>
                        <a:srgbClr val="434343"/>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1657350">
                <a:tc>
                  <a:txBody>
                    <a:bodyPr/>
                    <a:lstStyle/>
                    <a:p>
                      <a:pPr marL="0" lvl="0" indent="0" algn="l" rtl="0">
                        <a:lnSpc>
                          <a:spcPct val="115000"/>
                        </a:lnSpc>
                        <a:spcBef>
                          <a:spcPts val="0"/>
                        </a:spcBef>
                        <a:spcAft>
                          <a:spcPts val="0"/>
                        </a:spcAft>
                        <a:buNone/>
                      </a:pPr>
                      <a:r>
                        <a:rPr lang="en-US" sz="1650">
                          <a:solidFill>
                            <a:srgbClr val="94A3B8"/>
                          </a:solidFill>
                          <a:latin typeface="Urbanist"/>
                          <a:ea typeface="Urbanist"/>
                          <a:cs typeface="Urbanist"/>
                          <a:sym typeface="Urbanist"/>
                        </a:rPr>
                        <a:t>Os atributos multivalorados são tratados pelos seus detalhes, seu conteúdo é formado por mais de um valor.</a:t>
                      </a:r>
                      <a:endParaRPr sz="2400">
                        <a:solidFill>
                          <a:schemeClr val="dk1"/>
                        </a:solidFill>
                      </a:endParaRPr>
                    </a:p>
                    <a:p>
                      <a:pPr marL="0" lvl="0" indent="0" algn="l" rtl="0">
                        <a:lnSpc>
                          <a:spcPct val="115000"/>
                        </a:lnSpc>
                        <a:spcBef>
                          <a:spcPts val="0"/>
                        </a:spcBef>
                        <a:spcAft>
                          <a:spcPts val="0"/>
                        </a:spcAft>
                        <a:buNone/>
                      </a:pPr>
                      <a:endParaRPr sz="1650">
                        <a:solidFill>
                          <a:srgbClr val="94A3B8"/>
                        </a:solidFill>
                        <a:latin typeface="Urbanist"/>
                        <a:ea typeface="Urbanist"/>
                        <a:cs typeface="Urbanist"/>
                        <a:sym typeface="Urbanist"/>
                      </a:endParaRPr>
                    </a:p>
                  </a:txBody>
                  <a:tcPr marL="91425" marR="91425" marT="91425" marB="91425">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98" name="Google Shape;198;p23"/>
          <p:cNvSpPr txBox="1"/>
          <p:nvPr/>
        </p:nvSpPr>
        <p:spPr>
          <a:xfrm>
            <a:off x="1137725" y="5025000"/>
            <a:ext cx="10081500" cy="10287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600"/>
              </a:spcBef>
              <a:spcAft>
                <a:spcPts val="600"/>
              </a:spcAft>
              <a:buNone/>
            </a:pPr>
            <a:r>
              <a:rPr lang="en-US" sz="2550" b="1">
                <a:solidFill>
                  <a:srgbClr val="94A3B8"/>
                </a:solidFill>
                <a:latin typeface="Urbanist"/>
                <a:ea typeface="Urbanist"/>
                <a:cs typeface="Urbanist"/>
                <a:sym typeface="Urbanist"/>
              </a:rPr>
              <a:t>Exemplo:</a:t>
            </a:r>
            <a:r>
              <a:rPr lang="en-US" sz="2550">
                <a:solidFill>
                  <a:srgbClr val="94A3B8"/>
                </a:solidFill>
                <a:latin typeface="Urbanist"/>
                <a:ea typeface="Urbanist"/>
                <a:cs typeface="Urbanist"/>
                <a:sym typeface="Urbanist"/>
              </a:rPr>
              <a:t> Telefone. Um empregado poderá ter mais de um número de telefone.</a:t>
            </a:r>
            <a:endParaRPr sz="2850" b="1">
              <a:solidFill>
                <a:srgbClr val="94A3B8"/>
              </a:solidFill>
              <a:latin typeface="Urbanist"/>
              <a:ea typeface="Urbanist"/>
              <a:cs typeface="Urbanist"/>
              <a:sym typeface="Urbani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02"/>
        <p:cNvGrpSpPr/>
        <p:nvPr/>
      </p:nvGrpSpPr>
      <p:grpSpPr>
        <a:xfrm>
          <a:off x="0" y="0"/>
          <a:ext cx="0" cy="0"/>
          <a:chOff x="0" y="0"/>
          <a:chExt cx="0" cy="0"/>
        </a:xfrm>
      </p:grpSpPr>
      <p:pic>
        <p:nvPicPr>
          <p:cNvPr id="203" name="Google Shape;203;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4" name="Google Shape;204;p24"/>
          <p:cNvSpPr txBox="1"/>
          <p:nvPr/>
        </p:nvSpPr>
        <p:spPr>
          <a:xfrm>
            <a:off x="809625" y="581025"/>
            <a:ext cx="4002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Representação</a:t>
            </a:r>
            <a:endParaRPr/>
          </a:p>
        </p:txBody>
      </p:sp>
      <p:sp>
        <p:nvSpPr>
          <p:cNvPr id="205" name="Google Shape;205;p24"/>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6" name="Google Shape;206;p24"/>
          <p:cNvPicPr preferRelativeResize="0"/>
          <p:nvPr/>
        </p:nvPicPr>
        <p:blipFill>
          <a:blip r:embed="rId4">
            <a:alphaModFix/>
          </a:blip>
          <a:stretch>
            <a:fillRect/>
          </a:stretch>
        </p:blipFill>
        <p:spPr>
          <a:xfrm>
            <a:off x="3060147" y="2551149"/>
            <a:ext cx="6071701" cy="1950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10"/>
        <p:cNvGrpSpPr/>
        <p:nvPr/>
      </p:nvGrpSpPr>
      <p:grpSpPr>
        <a:xfrm>
          <a:off x="0" y="0"/>
          <a:ext cx="0" cy="0"/>
          <a:chOff x="0" y="0"/>
          <a:chExt cx="0" cy="0"/>
        </a:xfrm>
      </p:grpSpPr>
      <p:pic>
        <p:nvPicPr>
          <p:cNvPr id="211" name="Google Shape;211;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2" name="Google Shape;212;p25"/>
          <p:cNvSpPr txBox="1"/>
          <p:nvPr/>
        </p:nvSpPr>
        <p:spPr>
          <a:xfrm>
            <a:off x="809625" y="581025"/>
            <a:ext cx="4002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Representação 2</a:t>
            </a:r>
            <a:endParaRPr/>
          </a:p>
        </p:txBody>
      </p:sp>
      <p:sp>
        <p:nvSpPr>
          <p:cNvPr id="213" name="Google Shape;213;p25"/>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4" name="Google Shape;214;p25"/>
          <p:cNvPicPr preferRelativeResize="0"/>
          <p:nvPr/>
        </p:nvPicPr>
        <p:blipFill>
          <a:blip r:embed="rId4">
            <a:alphaModFix/>
          </a:blip>
          <a:stretch>
            <a:fillRect/>
          </a:stretch>
        </p:blipFill>
        <p:spPr>
          <a:xfrm>
            <a:off x="2138363" y="2605088"/>
            <a:ext cx="7915275" cy="1647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18"/>
        <p:cNvGrpSpPr/>
        <p:nvPr/>
      </p:nvGrpSpPr>
      <p:grpSpPr>
        <a:xfrm>
          <a:off x="0" y="0"/>
          <a:ext cx="0" cy="0"/>
          <a:chOff x="0" y="0"/>
          <a:chExt cx="0" cy="0"/>
        </a:xfrm>
      </p:grpSpPr>
      <p:pic>
        <p:nvPicPr>
          <p:cNvPr id="219" name="Google Shape;219;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0" name="Google Shape;220;p26"/>
          <p:cNvSpPr txBox="1"/>
          <p:nvPr/>
        </p:nvSpPr>
        <p:spPr>
          <a:xfrm>
            <a:off x="809625" y="581025"/>
            <a:ext cx="28704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Classificação</a:t>
            </a:r>
            <a:endParaRPr/>
          </a:p>
        </p:txBody>
      </p:sp>
      <p:sp>
        <p:nvSpPr>
          <p:cNvPr id="221" name="Google Shape;221;p26"/>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22" name="Google Shape;222;p26"/>
          <p:cNvGraphicFramePr/>
          <p:nvPr/>
        </p:nvGraphicFramePr>
        <p:xfrm>
          <a:off x="4062400" y="1419413"/>
          <a:ext cx="3000000" cy="3000000"/>
        </p:xfrm>
        <a:graphic>
          <a:graphicData uri="http://schemas.openxmlformats.org/drawingml/2006/table">
            <a:tbl>
              <a:tblPr>
                <a:noFill/>
                <a:tableStyleId>{D6C430D5-EB40-4A22-B546-3419E6079C9D}</a:tableStyleId>
              </a:tblPr>
              <a:tblGrid>
                <a:gridCol w="4067175">
                  <a:extLst>
                    <a:ext uri="{9D8B030D-6E8A-4147-A177-3AD203B41FA5}">
                      <a16:colId xmlns:a16="http://schemas.microsoft.com/office/drawing/2014/main" val="20000"/>
                    </a:ext>
                  </a:extLst>
                </a:gridCol>
              </a:tblGrid>
              <a:tr h="371475">
                <a:tc>
                  <a:txBody>
                    <a:bodyPr/>
                    <a:lstStyle/>
                    <a:p>
                      <a:pPr marL="0" lvl="0" indent="0" algn="l" rtl="0">
                        <a:lnSpc>
                          <a:spcPct val="115000"/>
                        </a:lnSpc>
                        <a:spcBef>
                          <a:spcPts val="0"/>
                        </a:spcBef>
                        <a:spcAft>
                          <a:spcPts val="0"/>
                        </a:spcAft>
                        <a:buNone/>
                      </a:pPr>
                      <a:r>
                        <a:rPr lang="en-US" sz="1800" b="1">
                          <a:solidFill>
                            <a:srgbClr val="FFFFFF"/>
                          </a:solidFill>
                        </a:rPr>
                        <a:t>Atributo chave</a:t>
                      </a:r>
                      <a:endParaRPr sz="1800" b="1">
                        <a:solidFill>
                          <a:srgbClr val="FFFFFF"/>
                        </a:solidFill>
                      </a:endParaRPr>
                    </a:p>
                  </a:txBody>
                  <a:tcPr marL="91425" marR="91425" marT="91425" marB="91425">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28575" cap="flat" cmpd="sng">
                      <a:solidFill>
                        <a:schemeClr val="dk2"/>
                      </a:solidFill>
                      <a:prstDash val="solid"/>
                      <a:round/>
                      <a:headEnd type="none" w="sm" len="sm"/>
                      <a:tailEnd type="none" w="sm" len="sm"/>
                    </a:lnT>
                    <a:lnB w="9525" cap="flat" cmpd="sng">
                      <a:solidFill>
                        <a:srgbClr val="434343"/>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1657350">
                <a:tc>
                  <a:txBody>
                    <a:bodyPr/>
                    <a:lstStyle/>
                    <a:p>
                      <a:pPr marL="0" lvl="0" indent="0" algn="l" rtl="0">
                        <a:lnSpc>
                          <a:spcPct val="115000"/>
                        </a:lnSpc>
                        <a:spcBef>
                          <a:spcPts val="0"/>
                        </a:spcBef>
                        <a:spcAft>
                          <a:spcPts val="0"/>
                        </a:spcAft>
                        <a:buNone/>
                      </a:pPr>
                      <a:r>
                        <a:rPr lang="en-US" sz="1650">
                          <a:solidFill>
                            <a:srgbClr val="94A3B8"/>
                          </a:solidFill>
                          <a:latin typeface="Urbanist"/>
                          <a:ea typeface="Urbanist"/>
                          <a:cs typeface="Urbanist"/>
                          <a:sym typeface="Urbanist"/>
                        </a:rPr>
                        <a:t>Um aspecto importante no conceito de entidade e atributos é a possibilidade de individualização de cada um dos objetos representados por entidades.</a:t>
                      </a:r>
                      <a:r>
                        <a:rPr lang="en-US" sz="2200">
                          <a:solidFill>
                            <a:schemeClr val="dk1"/>
                          </a:solidFill>
                        </a:rPr>
                        <a:t> </a:t>
                      </a:r>
                      <a:endParaRPr sz="2400">
                        <a:solidFill>
                          <a:schemeClr val="dk1"/>
                        </a:solidFill>
                      </a:endParaRPr>
                    </a:p>
                    <a:p>
                      <a:pPr marL="0" lvl="0" indent="0" algn="l" rtl="0">
                        <a:lnSpc>
                          <a:spcPct val="115000"/>
                        </a:lnSpc>
                        <a:spcBef>
                          <a:spcPts val="0"/>
                        </a:spcBef>
                        <a:spcAft>
                          <a:spcPts val="0"/>
                        </a:spcAft>
                        <a:buNone/>
                      </a:pPr>
                      <a:endParaRPr sz="1650">
                        <a:solidFill>
                          <a:srgbClr val="94A3B8"/>
                        </a:solidFill>
                        <a:latin typeface="Urbanist"/>
                        <a:ea typeface="Urbanist"/>
                        <a:cs typeface="Urbanist"/>
                        <a:sym typeface="Urbanist"/>
                      </a:endParaRPr>
                    </a:p>
                  </a:txBody>
                  <a:tcPr marL="91425" marR="91425" marT="91425" marB="91425">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23" name="Google Shape;223;p26"/>
          <p:cNvSpPr txBox="1"/>
          <p:nvPr/>
        </p:nvSpPr>
        <p:spPr>
          <a:xfrm>
            <a:off x="1055250" y="4171700"/>
            <a:ext cx="10081500" cy="21144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500"/>
              </a:spcBef>
              <a:spcAft>
                <a:spcPts val="0"/>
              </a:spcAft>
              <a:buClr>
                <a:schemeClr val="dk1"/>
              </a:buClr>
              <a:buSzPts val="1100"/>
              <a:buFont typeface="Arial"/>
              <a:buNone/>
            </a:pPr>
            <a:r>
              <a:rPr lang="en-US" sz="1650">
                <a:solidFill>
                  <a:srgbClr val="94A3B8"/>
                </a:solidFill>
                <a:latin typeface="Urbanist"/>
                <a:ea typeface="Urbanist"/>
                <a:cs typeface="Urbanist"/>
                <a:sym typeface="Urbanist"/>
              </a:rPr>
              <a:t>Como exemplo, pode-se dizer que todo empregado da empresa possui uma matrícula; através dela, é possível identificar cada um dos indivíduos (distintos) sem risco de ambiguidades ou confusão. Isso porque, se dois funcionários podem ter o mesmo salário ou até nomes idênticos, a matrícula é sempre única e não pode se repetir. Um exemplo de atributo chave que nunca se repete são os atributos CPF e RG de um empregado. </a:t>
            </a:r>
            <a:endParaRPr sz="2200">
              <a:solidFill>
                <a:schemeClr val="dk1"/>
              </a:solidFill>
            </a:endParaRPr>
          </a:p>
          <a:p>
            <a:pPr marL="0" lvl="0" indent="0" algn="just" rtl="0">
              <a:lnSpc>
                <a:spcPct val="115000"/>
              </a:lnSpc>
              <a:spcBef>
                <a:spcPts val="600"/>
              </a:spcBef>
              <a:spcAft>
                <a:spcPts val="600"/>
              </a:spcAft>
              <a:buNone/>
            </a:pPr>
            <a:endParaRPr sz="2550" b="1">
              <a:solidFill>
                <a:srgbClr val="94A3B8"/>
              </a:solidFill>
              <a:latin typeface="Urbanist"/>
              <a:ea typeface="Urbanist"/>
              <a:cs typeface="Urbanist"/>
              <a:sym typeface="Urbani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7"/>
        <p:cNvGrpSpPr/>
        <p:nvPr/>
      </p:nvGrpSpPr>
      <p:grpSpPr>
        <a:xfrm>
          <a:off x="0" y="0"/>
          <a:ext cx="0" cy="0"/>
          <a:chOff x="0" y="0"/>
          <a:chExt cx="0" cy="0"/>
        </a:xfrm>
      </p:grpSpPr>
      <p:pic>
        <p:nvPicPr>
          <p:cNvPr id="228" name="Google Shape;228;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9" name="Google Shape;229;p27"/>
          <p:cNvSpPr txBox="1"/>
          <p:nvPr/>
        </p:nvSpPr>
        <p:spPr>
          <a:xfrm>
            <a:off x="809625" y="581025"/>
            <a:ext cx="4002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Representação</a:t>
            </a:r>
            <a:endParaRPr/>
          </a:p>
        </p:txBody>
      </p:sp>
      <p:sp>
        <p:nvSpPr>
          <p:cNvPr id="230" name="Google Shape;230;p27"/>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31" name="Google Shape;231;p27"/>
          <p:cNvPicPr preferRelativeResize="0"/>
          <p:nvPr/>
        </p:nvPicPr>
        <p:blipFill>
          <a:blip r:embed="rId4">
            <a:alphaModFix/>
          </a:blip>
          <a:stretch>
            <a:fillRect/>
          </a:stretch>
        </p:blipFill>
        <p:spPr>
          <a:xfrm>
            <a:off x="4550850" y="2169988"/>
            <a:ext cx="3090300" cy="2518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5"/>
        <p:cNvGrpSpPr/>
        <p:nvPr/>
      </p:nvGrpSpPr>
      <p:grpSpPr>
        <a:xfrm>
          <a:off x="0" y="0"/>
          <a:ext cx="0" cy="0"/>
          <a:chOff x="0" y="0"/>
          <a:chExt cx="0" cy="0"/>
        </a:xfrm>
      </p:grpSpPr>
      <p:pic>
        <p:nvPicPr>
          <p:cNvPr id="236" name="Google Shape;236;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7" name="Google Shape;237;p28"/>
          <p:cNvSpPr txBox="1"/>
          <p:nvPr/>
        </p:nvSpPr>
        <p:spPr>
          <a:xfrm>
            <a:off x="809625" y="581025"/>
            <a:ext cx="4002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Representação 2</a:t>
            </a:r>
            <a:endParaRPr/>
          </a:p>
        </p:txBody>
      </p:sp>
      <p:sp>
        <p:nvSpPr>
          <p:cNvPr id="238" name="Google Shape;238;p28"/>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39" name="Google Shape;239;p28"/>
          <p:cNvPicPr preferRelativeResize="0"/>
          <p:nvPr/>
        </p:nvPicPr>
        <p:blipFill>
          <a:blip r:embed="rId4">
            <a:alphaModFix/>
          </a:blip>
          <a:stretch>
            <a:fillRect/>
          </a:stretch>
        </p:blipFill>
        <p:spPr>
          <a:xfrm>
            <a:off x="1662113" y="2605088"/>
            <a:ext cx="8867775" cy="16478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43"/>
        <p:cNvGrpSpPr/>
        <p:nvPr/>
      </p:nvGrpSpPr>
      <p:grpSpPr>
        <a:xfrm>
          <a:off x="0" y="0"/>
          <a:ext cx="0" cy="0"/>
          <a:chOff x="0" y="0"/>
          <a:chExt cx="0" cy="0"/>
        </a:xfrm>
      </p:grpSpPr>
      <p:pic>
        <p:nvPicPr>
          <p:cNvPr id="244" name="Google Shape;244;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5" name="Google Shape;245;p29" descr="image.png"/>
          <p:cNvPicPr preferRelativeResize="0"/>
          <p:nvPr/>
        </p:nvPicPr>
        <p:blipFill rotWithShape="1">
          <a:blip r:embed="rId4">
            <a:alphaModFix/>
          </a:blip>
          <a:srcRect/>
          <a:stretch/>
        </p:blipFill>
        <p:spPr>
          <a:xfrm>
            <a:off x="581025" y="1990725"/>
            <a:ext cx="5229225" cy="3810000"/>
          </a:xfrm>
          <a:prstGeom prst="rect">
            <a:avLst/>
          </a:prstGeom>
          <a:noFill/>
          <a:ln>
            <a:noFill/>
          </a:ln>
        </p:spPr>
      </p:pic>
      <p:pic>
        <p:nvPicPr>
          <p:cNvPr id="246" name="Google Shape;246;p29" descr="image.png"/>
          <p:cNvPicPr preferRelativeResize="0"/>
          <p:nvPr/>
        </p:nvPicPr>
        <p:blipFill rotWithShape="1">
          <a:blip r:embed="rId5">
            <a:alphaModFix/>
          </a:blip>
          <a:srcRect/>
          <a:stretch/>
        </p:blipFill>
        <p:spPr>
          <a:xfrm>
            <a:off x="590550" y="2000250"/>
            <a:ext cx="5210175" cy="3790950"/>
          </a:xfrm>
          <a:prstGeom prst="rect">
            <a:avLst/>
          </a:prstGeom>
          <a:noFill/>
          <a:ln>
            <a:noFill/>
          </a:ln>
        </p:spPr>
      </p:pic>
      <p:sp>
        <p:nvSpPr>
          <p:cNvPr id="247" name="Google Shape;247;p29"/>
          <p:cNvSpPr txBox="1"/>
          <p:nvPr/>
        </p:nvSpPr>
        <p:spPr>
          <a:xfrm>
            <a:off x="6381750" y="2571750"/>
            <a:ext cx="5229225"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94A3B8"/>
                </a:solidFill>
                <a:latin typeface="Urbanist"/>
                <a:ea typeface="Urbanist"/>
                <a:cs typeface="Urbanist"/>
                <a:sym typeface="Urbanist"/>
              </a:rPr>
              <a:t>Define a conexão lógica entre duas ou mais entidades. Indica como elas "conversam" no sistema.</a:t>
            </a:r>
            <a:endParaRPr/>
          </a:p>
        </p:txBody>
      </p:sp>
      <p:sp>
        <p:nvSpPr>
          <p:cNvPr id="248" name="Google Shape;248;p29"/>
          <p:cNvSpPr txBox="1"/>
          <p:nvPr/>
        </p:nvSpPr>
        <p:spPr>
          <a:xfrm>
            <a:off x="6381750" y="4591050"/>
            <a:ext cx="5229225"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94A3B8"/>
                </a:solidFill>
                <a:latin typeface="Urbanist"/>
                <a:ea typeface="Urbanist"/>
                <a:cs typeface="Urbanist"/>
                <a:sym typeface="Urbanist"/>
              </a:rPr>
              <a:t>A grande pergunta aqui não é só a ligação, mas </a:t>
            </a:r>
            <a:r>
              <a:rPr lang="en-US" sz="1650" b="0" i="0" u="none" strike="noStrike" cap="none">
                <a:solidFill>
                  <a:srgbClr val="22D3EE"/>
                </a:solidFill>
                <a:latin typeface="Urbanist SemiBold"/>
                <a:ea typeface="Urbanist SemiBold"/>
                <a:cs typeface="Urbanist SemiBold"/>
                <a:sym typeface="Urbanist SemiBold"/>
              </a:rPr>
              <a:t>quantos</a:t>
            </a:r>
            <a:r>
              <a:rPr lang="en-US" sz="1650" b="0" i="0" u="none" strike="noStrike" cap="none">
                <a:solidFill>
                  <a:srgbClr val="94A3B8"/>
                </a:solidFill>
                <a:latin typeface="Urbanist"/>
                <a:ea typeface="Urbanist"/>
                <a:cs typeface="Urbanist"/>
                <a:sym typeface="Urbanist"/>
              </a:rPr>
              <a:t> participam da relação.</a:t>
            </a:r>
            <a:endParaRPr/>
          </a:p>
        </p:txBody>
      </p:sp>
      <p:sp>
        <p:nvSpPr>
          <p:cNvPr id="249" name="Google Shape;249;p29"/>
          <p:cNvSpPr txBox="1"/>
          <p:nvPr/>
        </p:nvSpPr>
        <p:spPr>
          <a:xfrm>
            <a:off x="6381750" y="3486150"/>
            <a:ext cx="5229225" cy="314325"/>
          </a:xfrm>
          <a:prstGeom prst="rect">
            <a:avLst/>
          </a:prstGeom>
          <a:noFill/>
          <a:ln>
            <a:noFill/>
          </a:ln>
        </p:spPr>
        <p:txBody>
          <a:bodyPr spcFirstLastPara="1" wrap="square" lIns="209550" tIns="0" rIns="0" bIns="0" anchor="t" anchorCtr="0">
            <a:spAutoFit/>
          </a:bodyPr>
          <a:lstStyle/>
          <a:p>
            <a:pPr marL="0" marR="0" lvl="0" indent="0" algn="l" rtl="0">
              <a:lnSpc>
                <a:spcPct val="150000"/>
              </a:lnSpc>
              <a:spcBef>
                <a:spcPts val="0"/>
              </a:spcBef>
              <a:spcAft>
                <a:spcPts val="0"/>
              </a:spcAft>
              <a:buNone/>
            </a:pPr>
            <a:r>
              <a:rPr lang="en-US" sz="1650" b="1" i="0" u="none" strike="noStrike" cap="none">
                <a:solidFill>
                  <a:srgbClr val="94A3B8"/>
                </a:solidFill>
                <a:latin typeface="Urbanist"/>
                <a:ea typeface="Urbanist"/>
                <a:cs typeface="Urbanist"/>
                <a:sym typeface="Urbanist"/>
              </a:rPr>
              <a:t>Representação:</a:t>
            </a:r>
            <a:r>
              <a:rPr lang="en-US" sz="1650" b="0" i="0" u="none" strike="noStrike" cap="none">
                <a:solidFill>
                  <a:srgbClr val="94A3B8"/>
                </a:solidFill>
                <a:latin typeface="Urbanist"/>
                <a:ea typeface="Urbanist"/>
                <a:cs typeface="Urbanist"/>
                <a:sym typeface="Urbanist"/>
              </a:rPr>
              <a:t> Um losango ligando os retângulos.</a:t>
            </a:r>
            <a:endParaRPr/>
          </a:p>
        </p:txBody>
      </p:sp>
      <p:sp>
        <p:nvSpPr>
          <p:cNvPr id="250" name="Google Shape;250;p29"/>
          <p:cNvSpPr txBox="1"/>
          <p:nvPr/>
        </p:nvSpPr>
        <p:spPr>
          <a:xfrm>
            <a:off x="6381750" y="3990975"/>
            <a:ext cx="5229225" cy="314325"/>
          </a:xfrm>
          <a:prstGeom prst="rect">
            <a:avLst/>
          </a:prstGeom>
          <a:noFill/>
          <a:ln>
            <a:noFill/>
          </a:ln>
        </p:spPr>
        <p:txBody>
          <a:bodyPr spcFirstLastPara="1" wrap="square" lIns="190500" tIns="0" rIns="0" bIns="0" anchor="t" anchorCtr="0">
            <a:spAutoFit/>
          </a:bodyPr>
          <a:lstStyle/>
          <a:p>
            <a:pPr marL="0" marR="0" lvl="0" indent="0" algn="l" rtl="0">
              <a:lnSpc>
                <a:spcPct val="150000"/>
              </a:lnSpc>
              <a:spcBef>
                <a:spcPts val="0"/>
              </a:spcBef>
              <a:spcAft>
                <a:spcPts val="0"/>
              </a:spcAft>
              <a:buNone/>
            </a:pPr>
            <a:r>
              <a:rPr lang="en-US" sz="1650" b="1" i="0" u="none" strike="noStrike" cap="none">
                <a:solidFill>
                  <a:srgbClr val="94A3B8"/>
                </a:solidFill>
                <a:latin typeface="Urbanist"/>
                <a:ea typeface="Urbanist"/>
                <a:cs typeface="Urbanist"/>
                <a:sym typeface="Urbanist"/>
              </a:rPr>
              <a:t>Exemplo:</a:t>
            </a:r>
            <a:r>
              <a:rPr lang="en-US" sz="1650" b="0" i="0" u="none" strike="noStrike" cap="none">
                <a:solidFill>
                  <a:srgbClr val="94A3B8"/>
                </a:solidFill>
                <a:latin typeface="Urbanist"/>
                <a:ea typeface="Urbanist"/>
                <a:cs typeface="Urbanist"/>
                <a:sym typeface="Urbanist"/>
              </a:rPr>
              <a:t> Aluno </a:t>
            </a:r>
            <a:r>
              <a:rPr lang="en-US" sz="1650" b="0" i="0" u="none" strike="noStrike" cap="none">
                <a:solidFill>
                  <a:srgbClr val="22D3EE"/>
                </a:solidFill>
                <a:latin typeface="Urbanist SemiBold"/>
                <a:ea typeface="Urbanist SemiBold"/>
                <a:cs typeface="Urbanist SemiBold"/>
                <a:sym typeface="Urbanist SemiBold"/>
              </a:rPr>
              <a:t>Frequenta</a:t>
            </a:r>
            <a:r>
              <a:rPr lang="en-US" sz="1650" b="0" i="0" u="none" strike="noStrike" cap="none">
                <a:solidFill>
                  <a:srgbClr val="94A3B8"/>
                </a:solidFill>
                <a:latin typeface="Urbanist"/>
                <a:ea typeface="Urbanist"/>
                <a:cs typeface="Urbanist"/>
                <a:sym typeface="Urbanist"/>
              </a:rPr>
              <a:t> Aula.</a:t>
            </a:r>
            <a:endParaRPr/>
          </a:p>
        </p:txBody>
      </p:sp>
      <p:pic>
        <p:nvPicPr>
          <p:cNvPr id="251" name="Google Shape;251;p29" descr="image.png"/>
          <p:cNvPicPr preferRelativeResize="0"/>
          <p:nvPr/>
        </p:nvPicPr>
        <p:blipFill rotWithShape="1">
          <a:blip r:embed="rId6">
            <a:alphaModFix/>
          </a:blip>
          <a:srcRect/>
          <a:stretch/>
        </p:blipFill>
        <p:spPr>
          <a:xfrm>
            <a:off x="6381750" y="3529012"/>
            <a:ext cx="209550" cy="219075"/>
          </a:xfrm>
          <a:prstGeom prst="rect">
            <a:avLst/>
          </a:prstGeom>
          <a:noFill/>
          <a:ln>
            <a:noFill/>
          </a:ln>
        </p:spPr>
      </p:pic>
      <p:pic>
        <p:nvPicPr>
          <p:cNvPr id="252" name="Google Shape;252;p29" descr="image.png"/>
          <p:cNvPicPr preferRelativeResize="0"/>
          <p:nvPr/>
        </p:nvPicPr>
        <p:blipFill rotWithShape="1">
          <a:blip r:embed="rId7">
            <a:alphaModFix/>
          </a:blip>
          <a:srcRect/>
          <a:stretch/>
        </p:blipFill>
        <p:spPr>
          <a:xfrm>
            <a:off x="6381750" y="4033837"/>
            <a:ext cx="190500" cy="219075"/>
          </a:xfrm>
          <a:prstGeom prst="rect">
            <a:avLst/>
          </a:prstGeom>
          <a:noFill/>
          <a:ln>
            <a:noFill/>
          </a:ln>
        </p:spPr>
      </p:pic>
      <p:sp>
        <p:nvSpPr>
          <p:cNvPr id="253" name="Google Shape;253;p29"/>
          <p:cNvSpPr txBox="1"/>
          <p:nvPr/>
        </p:nvSpPr>
        <p:spPr>
          <a:xfrm>
            <a:off x="809625" y="581025"/>
            <a:ext cx="4940617"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3. RELACIONAMENTOS</a:t>
            </a:r>
            <a:endParaRPr/>
          </a:p>
        </p:txBody>
      </p:sp>
      <p:sp>
        <p:nvSpPr>
          <p:cNvPr id="254" name="Google Shape;254;p29"/>
          <p:cNvSpPr/>
          <p:nvPr/>
        </p:nvSpPr>
        <p:spPr>
          <a:xfrm>
            <a:off x="581025" y="581025"/>
            <a:ext cx="76200" cy="55245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58"/>
        <p:cNvGrpSpPr/>
        <p:nvPr/>
      </p:nvGrpSpPr>
      <p:grpSpPr>
        <a:xfrm>
          <a:off x="0" y="0"/>
          <a:ext cx="0" cy="0"/>
          <a:chOff x="0" y="0"/>
          <a:chExt cx="0" cy="0"/>
        </a:xfrm>
      </p:grpSpPr>
      <p:pic>
        <p:nvPicPr>
          <p:cNvPr id="259" name="Google Shape;259;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0" name="Google Shape;260;p30"/>
          <p:cNvSpPr txBox="1"/>
          <p:nvPr/>
        </p:nvSpPr>
        <p:spPr>
          <a:xfrm>
            <a:off x="809625" y="581025"/>
            <a:ext cx="6822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Tipos de Relacionamentos</a:t>
            </a:r>
            <a:endParaRPr/>
          </a:p>
        </p:txBody>
      </p:sp>
      <p:sp>
        <p:nvSpPr>
          <p:cNvPr id="261" name="Google Shape;261;p30"/>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30"/>
          <p:cNvSpPr txBox="1"/>
          <p:nvPr/>
        </p:nvSpPr>
        <p:spPr>
          <a:xfrm>
            <a:off x="1165875" y="1532775"/>
            <a:ext cx="10081500" cy="34863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Font typeface="Arial"/>
              <a:buNone/>
            </a:pPr>
            <a:r>
              <a:rPr lang="en-US" sz="1650">
                <a:solidFill>
                  <a:srgbClr val="94A3B8"/>
                </a:solidFill>
                <a:latin typeface="Urbanist"/>
                <a:ea typeface="Urbanist"/>
                <a:cs typeface="Urbanist"/>
                <a:sym typeface="Urbanist"/>
              </a:rPr>
              <a:t>Note que para identificar como cada entidade se relaciona com as demais é importante realizar algumas perguntas durante a fase de levantamento de requisitos.</a:t>
            </a:r>
            <a:endParaRPr sz="1650">
              <a:solidFill>
                <a:srgbClr val="94A3B8"/>
              </a:solidFill>
              <a:latin typeface="Urbanist"/>
              <a:ea typeface="Urbanist"/>
              <a:cs typeface="Urbanist"/>
              <a:sym typeface="Urbanist"/>
            </a:endParaRPr>
          </a:p>
          <a:p>
            <a:pPr marL="0" marR="0" lvl="0" indent="0" algn="l" rtl="0">
              <a:lnSpc>
                <a:spcPct val="150000"/>
              </a:lnSpc>
              <a:spcBef>
                <a:spcPts val="0"/>
              </a:spcBef>
              <a:spcAft>
                <a:spcPts val="0"/>
              </a:spcAft>
              <a:buClr>
                <a:srgbClr val="000000"/>
              </a:buClr>
              <a:buFont typeface="Arial"/>
              <a:buNone/>
            </a:pPr>
            <a:r>
              <a:rPr lang="en-US" sz="1650">
                <a:solidFill>
                  <a:srgbClr val="94A3B8"/>
                </a:solidFill>
                <a:latin typeface="Urbanist"/>
                <a:ea typeface="Urbanist"/>
                <a:cs typeface="Urbanist"/>
                <a:sym typeface="Urbanist"/>
              </a:rPr>
              <a:t>Por exemplo, para identificar os relacionamentos no nosso caso hipotético da empresa XPT você poderia perguntar: Como um empregado está relacionado com um departamento? Um empregado pode trabalhar em apenas um departamento? Um departamento possui mais de um empregado? Dependendo do tipo de resposta fornecida, um relacionamento poderá ser definido de três formas:</a:t>
            </a:r>
            <a:endParaRPr sz="1650">
              <a:solidFill>
                <a:srgbClr val="94A3B8"/>
              </a:solidFill>
              <a:latin typeface="Urbanist"/>
              <a:ea typeface="Urbanist"/>
              <a:cs typeface="Urbanist"/>
              <a:sym typeface="Urbanist"/>
            </a:endParaRPr>
          </a:p>
          <a:p>
            <a:pPr marL="457200" marR="0" lvl="0" indent="-333375" algn="l" rtl="0">
              <a:lnSpc>
                <a:spcPct val="150000"/>
              </a:lnSpc>
              <a:spcBef>
                <a:spcPts val="0"/>
              </a:spcBef>
              <a:spcAft>
                <a:spcPts val="0"/>
              </a:spcAft>
              <a:buClr>
                <a:srgbClr val="94A3B8"/>
              </a:buClr>
              <a:buSzPts val="1650"/>
              <a:buFont typeface="Urbanist"/>
              <a:buChar char="-"/>
            </a:pPr>
            <a:r>
              <a:rPr lang="en-US" sz="1650">
                <a:solidFill>
                  <a:srgbClr val="94A3B8"/>
                </a:solidFill>
                <a:latin typeface="Urbanist"/>
                <a:ea typeface="Urbanist"/>
                <a:cs typeface="Urbanist"/>
                <a:sym typeface="Urbanist"/>
              </a:rPr>
              <a:t>um-para-um</a:t>
            </a:r>
            <a:endParaRPr sz="1650">
              <a:solidFill>
                <a:srgbClr val="94A3B8"/>
              </a:solidFill>
              <a:latin typeface="Urbanist"/>
              <a:ea typeface="Urbanist"/>
              <a:cs typeface="Urbanist"/>
              <a:sym typeface="Urbanist"/>
            </a:endParaRPr>
          </a:p>
          <a:p>
            <a:pPr marL="457200" marR="0" lvl="0" indent="-333375" algn="l" rtl="0">
              <a:lnSpc>
                <a:spcPct val="150000"/>
              </a:lnSpc>
              <a:spcBef>
                <a:spcPts val="0"/>
              </a:spcBef>
              <a:spcAft>
                <a:spcPts val="0"/>
              </a:spcAft>
              <a:buClr>
                <a:srgbClr val="94A3B8"/>
              </a:buClr>
              <a:buSzPts val="1650"/>
              <a:buFont typeface="Urbanist"/>
              <a:buChar char="-"/>
            </a:pPr>
            <a:r>
              <a:rPr lang="en-US" sz="1650">
                <a:solidFill>
                  <a:srgbClr val="94A3B8"/>
                </a:solidFill>
                <a:latin typeface="Urbanist"/>
                <a:ea typeface="Urbanist"/>
                <a:cs typeface="Urbanist"/>
                <a:sym typeface="Urbanist"/>
              </a:rPr>
              <a:t>um-para-muitos</a:t>
            </a:r>
            <a:endParaRPr sz="1650">
              <a:solidFill>
                <a:srgbClr val="94A3B8"/>
              </a:solidFill>
              <a:latin typeface="Urbanist"/>
              <a:ea typeface="Urbanist"/>
              <a:cs typeface="Urbanist"/>
              <a:sym typeface="Urbanist"/>
            </a:endParaRPr>
          </a:p>
          <a:p>
            <a:pPr marL="457200" marR="0" lvl="0" indent="-333375" algn="l" rtl="0">
              <a:lnSpc>
                <a:spcPct val="150000"/>
              </a:lnSpc>
              <a:spcBef>
                <a:spcPts val="0"/>
              </a:spcBef>
              <a:spcAft>
                <a:spcPts val="0"/>
              </a:spcAft>
              <a:buClr>
                <a:srgbClr val="94A3B8"/>
              </a:buClr>
              <a:buSzPts val="1650"/>
              <a:buFont typeface="Urbanist"/>
              <a:buChar char="-"/>
            </a:pPr>
            <a:r>
              <a:rPr lang="en-US" sz="1650">
                <a:solidFill>
                  <a:srgbClr val="94A3B8"/>
                </a:solidFill>
                <a:latin typeface="Urbanist"/>
                <a:ea typeface="Urbanist"/>
                <a:cs typeface="Urbanist"/>
                <a:sym typeface="Urbanist"/>
              </a:rPr>
              <a:t>muitos-para-muitos</a:t>
            </a:r>
            <a:endParaRPr sz="2550" b="1">
              <a:solidFill>
                <a:srgbClr val="94A3B8"/>
              </a:solidFill>
              <a:latin typeface="Urbanist"/>
              <a:ea typeface="Urbanist"/>
              <a:cs typeface="Urbanist"/>
              <a:sym typeface="Urbani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66"/>
        <p:cNvGrpSpPr/>
        <p:nvPr/>
      </p:nvGrpSpPr>
      <p:grpSpPr>
        <a:xfrm>
          <a:off x="0" y="0"/>
          <a:ext cx="0" cy="0"/>
          <a:chOff x="0" y="0"/>
          <a:chExt cx="0" cy="0"/>
        </a:xfrm>
      </p:grpSpPr>
      <p:pic>
        <p:nvPicPr>
          <p:cNvPr id="267" name="Google Shape;267;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8" name="Google Shape;268;p31"/>
          <p:cNvSpPr txBox="1"/>
          <p:nvPr/>
        </p:nvSpPr>
        <p:spPr>
          <a:xfrm>
            <a:off x="809625" y="581025"/>
            <a:ext cx="6822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Relacionamento um-para-um</a:t>
            </a:r>
            <a:endParaRPr/>
          </a:p>
        </p:txBody>
      </p:sp>
      <p:sp>
        <p:nvSpPr>
          <p:cNvPr id="269" name="Google Shape;269;p31"/>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0" name="Google Shape;270;p31"/>
          <p:cNvSpPr txBox="1"/>
          <p:nvPr/>
        </p:nvSpPr>
        <p:spPr>
          <a:xfrm>
            <a:off x="944625" y="1959425"/>
            <a:ext cx="10081500" cy="13830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600"/>
              </a:spcBef>
              <a:spcAft>
                <a:spcPts val="0"/>
              </a:spcAft>
              <a:buNone/>
            </a:pPr>
            <a:r>
              <a:rPr lang="en-US" sz="2450">
                <a:solidFill>
                  <a:srgbClr val="94A3B8"/>
                </a:solidFill>
                <a:latin typeface="Urbanist"/>
                <a:ea typeface="Urbanist"/>
                <a:cs typeface="Urbanist"/>
                <a:sym typeface="Urbanist"/>
              </a:rPr>
              <a:t>O relacionamento um-para-um é usado quando uma entidade A se relaciona com apenas uma entidade B e vice-versa.</a:t>
            </a:r>
            <a:endParaRPr sz="3200">
              <a:solidFill>
                <a:schemeClr val="dk1"/>
              </a:solidFill>
            </a:endParaRPr>
          </a:p>
          <a:p>
            <a:pPr marL="0" marR="0" lvl="0" indent="0" algn="l" rtl="0">
              <a:lnSpc>
                <a:spcPct val="150000"/>
              </a:lnSpc>
              <a:spcBef>
                <a:spcPts val="600"/>
              </a:spcBef>
              <a:spcAft>
                <a:spcPts val="0"/>
              </a:spcAft>
              <a:buNone/>
            </a:pPr>
            <a:endParaRPr sz="1650">
              <a:solidFill>
                <a:srgbClr val="94A3B8"/>
              </a:solidFill>
              <a:latin typeface="Urbanist"/>
              <a:ea typeface="Urbanist"/>
              <a:cs typeface="Urbanist"/>
              <a:sym typeface="Urbanist"/>
            </a:endParaRPr>
          </a:p>
        </p:txBody>
      </p:sp>
      <p:pic>
        <p:nvPicPr>
          <p:cNvPr id="271" name="Google Shape;271;p31"/>
          <p:cNvPicPr preferRelativeResize="0"/>
          <p:nvPr/>
        </p:nvPicPr>
        <p:blipFill>
          <a:blip r:embed="rId4">
            <a:alphaModFix/>
          </a:blip>
          <a:stretch>
            <a:fillRect/>
          </a:stretch>
        </p:blipFill>
        <p:spPr>
          <a:xfrm>
            <a:off x="1252738" y="3937202"/>
            <a:ext cx="9686525" cy="1527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75"/>
        <p:cNvGrpSpPr/>
        <p:nvPr/>
      </p:nvGrpSpPr>
      <p:grpSpPr>
        <a:xfrm>
          <a:off x="0" y="0"/>
          <a:ext cx="0" cy="0"/>
          <a:chOff x="0" y="0"/>
          <a:chExt cx="0" cy="0"/>
        </a:xfrm>
      </p:grpSpPr>
      <p:pic>
        <p:nvPicPr>
          <p:cNvPr id="276" name="Google Shape;276;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77" name="Google Shape;277;p32"/>
          <p:cNvSpPr txBox="1"/>
          <p:nvPr/>
        </p:nvSpPr>
        <p:spPr>
          <a:xfrm>
            <a:off x="809625" y="581025"/>
            <a:ext cx="92244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Relacionamento um-para-muitos</a:t>
            </a:r>
            <a:endParaRPr/>
          </a:p>
        </p:txBody>
      </p:sp>
      <p:sp>
        <p:nvSpPr>
          <p:cNvPr id="278" name="Google Shape;278;p32"/>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32"/>
          <p:cNvSpPr txBox="1"/>
          <p:nvPr/>
        </p:nvSpPr>
        <p:spPr>
          <a:xfrm>
            <a:off x="944625" y="1669800"/>
            <a:ext cx="10081500" cy="35184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600"/>
              </a:spcBef>
              <a:spcAft>
                <a:spcPts val="0"/>
              </a:spcAft>
              <a:buNone/>
            </a:pPr>
            <a:r>
              <a:rPr lang="en-US" sz="2150">
                <a:solidFill>
                  <a:srgbClr val="94A3B8"/>
                </a:solidFill>
                <a:latin typeface="Urbanist"/>
                <a:ea typeface="Urbanist"/>
                <a:cs typeface="Urbanist"/>
                <a:sym typeface="Urbanist"/>
              </a:rPr>
              <a:t>O relacionamento um-para-muitos é usado quando uma entidade A pode se relacionar com uma ou mais entidades B.</a:t>
            </a:r>
            <a:endParaRPr sz="2150">
              <a:solidFill>
                <a:srgbClr val="94A3B8"/>
              </a:solidFill>
              <a:latin typeface="Urbanist"/>
              <a:ea typeface="Urbanist"/>
              <a:cs typeface="Urbanist"/>
              <a:sym typeface="Urbanist"/>
            </a:endParaRPr>
          </a:p>
          <a:p>
            <a:pPr marL="0" marR="0" lvl="0" indent="0" algn="just" rtl="0">
              <a:lnSpc>
                <a:spcPct val="115000"/>
              </a:lnSpc>
              <a:spcBef>
                <a:spcPts val="600"/>
              </a:spcBef>
              <a:spcAft>
                <a:spcPts val="0"/>
              </a:spcAft>
              <a:buNone/>
            </a:pPr>
            <a:endParaRPr sz="2150">
              <a:solidFill>
                <a:srgbClr val="94A3B8"/>
              </a:solidFill>
              <a:latin typeface="Urbanist"/>
              <a:ea typeface="Urbanist"/>
              <a:cs typeface="Urbanist"/>
              <a:sym typeface="Urbanist"/>
            </a:endParaRPr>
          </a:p>
          <a:p>
            <a:pPr marL="0" marR="0" lvl="0" indent="0" algn="just" rtl="0">
              <a:lnSpc>
                <a:spcPct val="115000"/>
              </a:lnSpc>
              <a:spcBef>
                <a:spcPts val="600"/>
              </a:spcBef>
              <a:spcAft>
                <a:spcPts val="0"/>
              </a:spcAft>
              <a:buNone/>
            </a:pPr>
            <a:r>
              <a:rPr lang="en-US" sz="2150">
                <a:solidFill>
                  <a:srgbClr val="94A3B8"/>
                </a:solidFill>
                <a:latin typeface="Urbanist"/>
                <a:ea typeface="Urbanist"/>
                <a:cs typeface="Urbanist"/>
                <a:sym typeface="Urbanist"/>
              </a:rPr>
              <a:t>Esse relacionamento é representado pelo sinal:</a:t>
            </a:r>
            <a:endParaRPr sz="2150">
              <a:solidFill>
                <a:srgbClr val="94A3B8"/>
              </a:solidFill>
              <a:latin typeface="Urbanist"/>
              <a:ea typeface="Urbanist"/>
              <a:cs typeface="Urbanist"/>
              <a:sym typeface="Urbanist"/>
            </a:endParaRPr>
          </a:p>
          <a:p>
            <a:pPr marL="0" marR="0" lvl="0" indent="0" algn="just" rtl="0">
              <a:lnSpc>
                <a:spcPct val="115000"/>
              </a:lnSpc>
              <a:spcBef>
                <a:spcPts val="600"/>
              </a:spcBef>
              <a:spcAft>
                <a:spcPts val="0"/>
              </a:spcAft>
              <a:buNone/>
            </a:pPr>
            <a:endParaRPr sz="2150">
              <a:solidFill>
                <a:srgbClr val="94A3B8"/>
              </a:solidFill>
              <a:latin typeface="Urbanist"/>
              <a:ea typeface="Urbanist"/>
              <a:cs typeface="Urbanist"/>
              <a:sym typeface="Urbanist"/>
            </a:endParaRPr>
          </a:p>
          <a:p>
            <a:pPr marL="0" marR="0" lvl="0" indent="0" algn="just" rtl="0">
              <a:lnSpc>
                <a:spcPct val="115000"/>
              </a:lnSpc>
              <a:spcBef>
                <a:spcPts val="600"/>
              </a:spcBef>
              <a:spcAft>
                <a:spcPts val="0"/>
              </a:spcAft>
              <a:buNone/>
            </a:pPr>
            <a:r>
              <a:rPr lang="en-US" sz="2150">
                <a:solidFill>
                  <a:srgbClr val="94A3B8"/>
                </a:solidFill>
                <a:latin typeface="Urbanist"/>
                <a:ea typeface="Urbanist"/>
                <a:cs typeface="Urbanist"/>
                <a:sym typeface="Urbanist"/>
              </a:rPr>
              <a:t>1:N</a:t>
            </a:r>
            <a:endParaRPr sz="2100">
              <a:solidFill>
                <a:schemeClr val="dk1"/>
              </a:solidFill>
            </a:endParaRPr>
          </a:p>
          <a:p>
            <a:pPr marL="0" lvl="0" indent="0" algn="just" rtl="0">
              <a:lnSpc>
                <a:spcPct val="115000"/>
              </a:lnSpc>
              <a:spcBef>
                <a:spcPts val="600"/>
              </a:spcBef>
              <a:spcAft>
                <a:spcPts val="0"/>
              </a:spcAft>
              <a:buNone/>
            </a:pPr>
            <a:endParaRPr sz="2150">
              <a:solidFill>
                <a:srgbClr val="94A3B8"/>
              </a:solidFill>
              <a:latin typeface="Urbanist"/>
              <a:ea typeface="Urbanist"/>
              <a:cs typeface="Urbanist"/>
              <a:sym typeface="Urbanist"/>
            </a:endParaRPr>
          </a:p>
          <a:p>
            <a:pPr marL="0" marR="0" lvl="0" indent="0" algn="l" rtl="0">
              <a:lnSpc>
                <a:spcPct val="150000"/>
              </a:lnSpc>
              <a:spcBef>
                <a:spcPts val="600"/>
              </a:spcBef>
              <a:spcAft>
                <a:spcPts val="0"/>
              </a:spcAft>
              <a:buNone/>
            </a:pPr>
            <a:endParaRPr sz="1350">
              <a:solidFill>
                <a:srgbClr val="94A3B8"/>
              </a:solidFill>
              <a:latin typeface="Urbanist"/>
              <a:ea typeface="Urbanist"/>
              <a:cs typeface="Urbanist"/>
              <a:sym typeface="Urbanist"/>
            </a:endParaRPr>
          </a:p>
        </p:txBody>
      </p:sp>
      <p:pic>
        <p:nvPicPr>
          <p:cNvPr id="280" name="Google Shape;280;p32"/>
          <p:cNvPicPr preferRelativeResize="0"/>
          <p:nvPr/>
        </p:nvPicPr>
        <p:blipFill>
          <a:blip r:embed="rId4">
            <a:alphaModFix/>
          </a:blip>
          <a:stretch>
            <a:fillRect/>
          </a:stretch>
        </p:blipFill>
        <p:spPr>
          <a:xfrm>
            <a:off x="1817200" y="4618403"/>
            <a:ext cx="9402101" cy="1482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4"/>
        <p:cNvGrpSpPr/>
        <p:nvPr/>
      </p:nvGrpSpPr>
      <p:grpSpPr>
        <a:xfrm>
          <a:off x="0" y="0"/>
          <a:ext cx="0" cy="0"/>
          <a:chOff x="0" y="0"/>
          <a:chExt cx="0" cy="0"/>
        </a:xfrm>
      </p:grpSpPr>
      <p:pic>
        <p:nvPicPr>
          <p:cNvPr id="285" name="Google Shape;285;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86" name="Google Shape;286;p33"/>
          <p:cNvSpPr txBox="1"/>
          <p:nvPr/>
        </p:nvSpPr>
        <p:spPr>
          <a:xfrm>
            <a:off x="809625" y="581025"/>
            <a:ext cx="92244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8FAFC"/>
                </a:solidFill>
                <a:latin typeface="Urbanist"/>
                <a:ea typeface="Urbanist"/>
                <a:cs typeface="Urbanist"/>
                <a:sym typeface="Urbanist"/>
              </a:rPr>
              <a:t>Relacionamento muitos-para-muitos</a:t>
            </a:r>
            <a:endParaRPr/>
          </a:p>
        </p:txBody>
      </p:sp>
      <p:sp>
        <p:nvSpPr>
          <p:cNvPr id="287" name="Google Shape;287;p33"/>
          <p:cNvSpPr/>
          <p:nvPr/>
        </p:nvSpPr>
        <p:spPr>
          <a:xfrm>
            <a:off x="581025" y="581025"/>
            <a:ext cx="76200" cy="55260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8" name="Google Shape;288;p33"/>
          <p:cNvSpPr txBox="1"/>
          <p:nvPr/>
        </p:nvSpPr>
        <p:spPr>
          <a:xfrm>
            <a:off x="944625" y="1669800"/>
            <a:ext cx="10081500" cy="26031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600"/>
              </a:spcBef>
              <a:spcAft>
                <a:spcPts val="0"/>
              </a:spcAft>
              <a:buNone/>
            </a:pPr>
            <a:r>
              <a:rPr lang="en-US" sz="2150">
                <a:solidFill>
                  <a:srgbClr val="94A3B8"/>
                </a:solidFill>
                <a:latin typeface="Urbanist"/>
                <a:ea typeface="Urbanist"/>
                <a:cs typeface="Urbanist"/>
                <a:sym typeface="Urbanist"/>
              </a:rPr>
              <a:t>O relacionamento muitos-para-muitos é usado quando várias entidades A se relacionam com várias entidades B.</a:t>
            </a:r>
            <a:endParaRPr sz="2150">
              <a:solidFill>
                <a:srgbClr val="94A3B8"/>
              </a:solidFill>
              <a:latin typeface="Urbanist"/>
              <a:ea typeface="Urbanist"/>
              <a:cs typeface="Urbanist"/>
              <a:sym typeface="Urbanist"/>
            </a:endParaRPr>
          </a:p>
          <a:p>
            <a:pPr marL="0" marR="0" lvl="0" indent="0" algn="just" rtl="0">
              <a:lnSpc>
                <a:spcPct val="115000"/>
              </a:lnSpc>
              <a:spcBef>
                <a:spcPts val="600"/>
              </a:spcBef>
              <a:spcAft>
                <a:spcPts val="0"/>
              </a:spcAft>
              <a:buNone/>
            </a:pPr>
            <a:r>
              <a:rPr lang="en-US" sz="2150">
                <a:solidFill>
                  <a:srgbClr val="94A3B8"/>
                </a:solidFill>
                <a:latin typeface="Urbanist"/>
                <a:ea typeface="Urbanist"/>
                <a:cs typeface="Urbanist"/>
                <a:sym typeface="Urbanist"/>
              </a:rPr>
              <a:t>Esse relacionamento é representado pelo sinal: N:N ou N:M.</a:t>
            </a:r>
            <a:endParaRPr sz="2400">
              <a:solidFill>
                <a:schemeClr val="dk1"/>
              </a:solidFill>
            </a:endParaRPr>
          </a:p>
          <a:p>
            <a:pPr marL="0" marR="0" lvl="0" indent="0" algn="just" rtl="0">
              <a:lnSpc>
                <a:spcPct val="115000"/>
              </a:lnSpc>
              <a:spcBef>
                <a:spcPts val="600"/>
              </a:spcBef>
              <a:spcAft>
                <a:spcPts val="0"/>
              </a:spcAft>
              <a:buNone/>
            </a:pPr>
            <a:endParaRPr sz="2150">
              <a:solidFill>
                <a:srgbClr val="94A3B8"/>
              </a:solidFill>
              <a:latin typeface="Urbanist"/>
              <a:ea typeface="Urbanist"/>
              <a:cs typeface="Urbanist"/>
              <a:sym typeface="Urbanist"/>
            </a:endParaRPr>
          </a:p>
          <a:p>
            <a:pPr marL="0" lvl="0" indent="0" algn="just" rtl="0">
              <a:lnSpc>
                <a:spcPct val="115000"/>
              </a:lnSpc>
              <a:spcBef>
                <a:spcPts val="600"/>
              </a:spcBef>
              <a:spcAft>
                <a:spcPts val="0"/>
              </a:spcAft>
              <a:buNone/>
            </a:pPr>
            <a:endParaRPr sz="2150">
              <a:solidFill>
                <a:srgbClr val="94A3B8"/>
              </a:solidFill>
              <a:latin typeface="Urbanist"/>
              <a:ea typeface="Urbanist"/>
              <a:cs typeface="Urbanist"/>
              <a:sym typeface="Urbanist"/>
            </a:endParaRPr>
          </a:p>
          <a:p>
            <a:pPr marL="0" marR="0" lvl="0" indent="0" algn="l" rtl="0">
              <a:lnSpc>
                <a:spcPct val="150000"/>
              </a:lnSpc>
              <a:spcBef>
                <a:spcPts val="600"/>
              </a:spcBef>
              <a:spcAft>
                <a:spcPts val="0"/>
              </a:spcAft>
              <a:buNone/>
            </a:pPr>
            <a:endParaRPr sz="1350">
              <a:solidFill>
                <a:srgbClr val="94A3B8"/>
              </a:solidFill>
              <a:latin typeface="Urbanist"/>
              <a:ea typeface="Urbanist"/>
              <a:cs typeface="Urbanist"/>
              <a:sym typeface="Urbanist"/>
            </a:endParaRPr>
          </a:p>
        </p:txBody>
      </p:sp>
      <p:pic>
        <p:nvPicPr>
          <p:cNvPr id="289" name="Google Shape;289;p33"/>
          <p:cNvPicPr preferRelativeResize="0"/>
          <p:nvPr/>
        </p:nvPicPr>
        <p:blipFill>
          <a:blip r:embed="rId4">
            <a:alphaModFix/>
          </a:blip>
          <a:stretch>
            <a:fillRect/>
          </a:stretch>
        </p:blipFill>
        <p:spPr>
          <a:xfrm>
            <a:off x="1055250" y="3889777"/>
            <a:ext cx="10081499" cy="158991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93"/>
        <p:cNvGrpSpPr/>
        <p:nvPr/>
      </p:nvGrpSpPr>
      <p:grpSpPr>
        <a:xfrm>
          <a:off x="0" y="0"/>
          <a:ext cx="0" cy="0"/>
          <a:chOff x="0" y="0"/>
          <a:chExt cx="0" cy="0"/>
        </a:xfrm>
      </p:grpSpPr>
      <p:pic>
        <p:nvPicPr>
          <p:cNvPr id="294" name="Google Shape;294;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95" name="Google Shape;295;p34"/>
          <p:cNvSpPr/>
          <p:nvPr/>
        </p:nvSpPr>
        <p:spPr>
          <a:xfrm>
            <a:off x="5619750" y="2286000"/>
            <a:ext cx="952500" cy="5715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6" name="Google Shape;296;p34"/>
          <p:cNvSpPr txBox="1"/>
          <p:nvPr/>
        </p:nvSpPr>
        <p:spPr>
          <a:xfrm>
            <a:off x="305276" y="2628900"/>
            <a:ext cx="11581447" cy="8191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a:solidFill>
                  <a:srgbClr val="F8FAFC"/>
                </a:solidFill>
                <a:latin typeface="Urbanist"/>
                <a:ea typeface="Urbanist"/>
                <a:cs typeface="Urbanist"/>
                <a:sym typeface="Urbanist"/>
              </a:rPr>
              <a:t>Cardinalidade</a:t>
            </a:r>
            <a:endParaRPr/>
          </a:p>
        </p:txBody>
      </p:sp>
      <p:sp>
        <p:nvSpPr>
          <p:cNvPr id="297" name="Google Shape;297;p34"/>
          <p:cNvSpPr txBox="1"/>
          <p:nvPr/>
        </p:nvSpPr>
        <p:spPr>
          <a:xfrm>
            <a:off x="581025" y="3905250"/>
            <a:ext cx="11029950" cy="4000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100" b="0" i="0" u="none" strike="noStrike" cap="none">
                <a:solidFill>
                  <a:srgbClr val="94A3B8"/>
                </a:solidFill>
                <a:latin typeface="Urbanist"/>
                <a:ea typeface="Urbanist"/>
                <a:cs typeface="Urbanist"/>
                <a:sym typeface="Urbanist"/>
              </a:rPr>
              <a:t>Entendendo as quantidades: 1:1, 1:N e N:N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01"/>
        <p:cNvGrpSpPr/>
        <p:nvPr/>
      </p:nvGrpSpPr>
      <p:grpSpPr>
        <a:xfrm>
          <a:off x="0" y="0"/>
          <a:ext cx="0" cy="0"/>
          <a:chOff x="0" y="0"/>
          <a:chExt cx="0" cy="0"/>
        </a:xfrm>
      </p:grpSpPr>
      <p:pic>
        <p:nvPicPr>
          <p:cNvPr id="302" name="Google Shape;302;p3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3" name="Google Shape;303;p35" descr="image.png"/>
          <p:cNvPicPr preferRelativeResize="0"/>
          <p:nvPr/>
        </p:nvPicPr>
        <p:blipFill rotWithShape="1">
          <a:blip r:embed="rId4">
            <a:alphaModFix/>
          </a:blip>
          <a:srcRect/>
          <a:stretch/>
        </p:blipFill>
        <p:spPr>
          <a:xfrm>
            <a:off x="6381750" y="2590800"/>
            <a:ext cx="5229225" cy="2609850"/>
          </a:xfrm>
          <a:prstGeom prst="rect">
            <a:avLst/>
          </a:prstGeom>
          <a:noFill/>
          <a:ln>
            <a:noFill/>
          </a:ln>
        </p:spPr>
      </p:pic>
      <p:pic>
        <p:nvPicPr>
          <p:cNvPr id="304" name="Google Shape;304;p35" descr="image.png"/>
          <p:cNvPicPr preferRelativeResize="0"/>
          <p:nvPr/>
        </p:nvPicPr>
        <p:blipFill rotWithShape="1">
          <a:blip r:embed="rId5">
            <a:alphaModFix/>
          </a:blip>
          <a:srcRect/>
          <a:stretch/>
        </p:blipFill>
        <p:spPr>
          <a:xfrm>
            <a:off x="581025" y="3709987"/>
            <a:ext cx="5229225" cy="1638300"/>
          </a:xfrm>
          <a:prstGeom prst="rect">
            <a:avLst/>
          </a:prstGeom>
          <a:noFill/>
          <a:ln>
            <a:noFill/>
          </a:ln>
        </p:spPr>
      </p:pic>
      <p:sp>
        <p:nvSpPr>
          <p:cNvPr id="305" name="Google Shape;305;p35"/>
          <p:cNvSpPr txBox="1"/>
          <p:nvPr/>
        </p:nvSpPr>
        <p:spPr>
          <a:xfrm>
            <a:off x="581025" y="2443162"/>
            <a:ext cx="5490686"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F8FAFC"/>
                </a:solidFill>
                <a:latin typeface="Urbanist"/>
                <a:ea typeface="Urbanist"/>
                <a:cs typeface="Urbanist"/>
                <a:sym typeface="Urbanist"/>
              </a:rPr>
              <a:t>Definição</a:t>
            </a:r>
            <a:endParaRPr/>
          </a:p>
        </p:txBody>
      </p:sp>
      <p:sp>
        <p:nvSpPr>
          <p:cNvPr id="306" name="Google Shape;306;p35"/>
          <p:cNvSpPr txBox="1"/>
          <p:nvPr/>
        </p:nvSpPr>
        <p:spPr>
          <a:xfrm>
            <a:off x="581025" y="2871787"/>
            <a:ext cx="5229225"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94A3B8"/>
                </a:solidFill>
                <a:latin typeface="Urbanist"/>
                <a:ea typeface="Urbanist"/>
                <a:cs typeface="Urbanist"/>
                <a:sym typeface="Urbanist"/>
              </a:rPr>
              <a:t>Uma ocorrência da Entidade A está associada a no máximo uma ocorrência da Entidade B, e vice-versa.</a:t>
            </a:r>
            <a:endParaRPr/>
          </a:p>
        </p:txBody>
      </p:sp>
      <p:sp>
        <p:nvSpPr>
          <p:cNvPr id="307" name="Google Shape;307;p35"/>
          <p:cNvSpPr txBox="1"/>
          <p:nvPr/>
        </p:nvSpPr>
        <p:spPr>
          <a:xfrm>
            <a:off x="6772275" y="3248025"/>
            <a:ext cx="4448175" cy="8001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100" b="0" i="0" u="none" strike="noStrike" cap="none">
                <a:solidFill>
                  <a:srgbClr val="22D3EE"/>
                </a:solidFill>
                <a:latin typeface="JetBrains Mono"/>
                <a:ea typeface="JetBrains Mono"/>
                <a:cs typeface="JetBrains Mono"/>
                <a:sym typeface="JetBrains Mono"/>
              </a:rPr>
              <a:t>[Pessoa] --(1)-- &lt; Losango &gt; --(1)-- [CPF]</a:t>
            </a:r>
            <a:endParaRPr/>
          </a:p>
        </p:txBody>
      </p:sp>
      <p:sp>
        <p:nvSpPr>
          <p:cNvPr id="308" name="Google Shape;308;p35"/>
          <p:cNvSpPr txBox="1"/>
          <p:nvPr/>
        </p:nvSpPr>
        <p:spPr>
          <a:xfrm>
            <a:off x="6772275" y="4429125"/>
            <a:ext cx="4448175" cy="2286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94A3B8"/>
                </a:solidFill>
                <a:latin typeface="Urbanist"/>
                <a:ea typeface="Urbanist"/>
                <a:cs typeface="Urbanist"/>
                <a:sym typeface="Urbanist"/>
              </a:rPr>
              <a:t>Geralmente usado para extensões de dados ou segurança.</a:t>
            </a:r>
            <a:endParaRPr/>
          </a:p>
        </p:txBody>
      </p:sp>
      <p:sp>
        <p:nvSpPr>
          <p:cNvPr id="309" name="Google Shape;309;p35"/>
          <p:cNvSpPr txBox="1"/>
          <p:nvPr/>
        </p:nvSpPr>
        <p:spPr>
          <a:xfrm>
            <a:off x="771525" y="4110037"/>
            <a:ext cx="484822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22D3EE"/>
                </a:solidFill>
                <a:latin typeface="Urbanist SemiBold"/>
                <a:ea typeface="Urbanist SemiBold"/>
                <a:cs typeface="Urbanist SemiBold"/>
                <a:sym typeface="Urbanist SemiBold"/>
              </a:rPr>
              <a:t>Exemplo Clássico:</a:t>
            </a:r>
            <a:endParaRPr/>
          </a:p>
        </p:txBody>
      </p:sp>
      <p:sp>
        <p:nvSpPr>
          <p:cNvPr id="310" name="Google Shape;310;p35"/>
          <p:cNvSpPr txBox="1"/>
          <p:nvPr/>
        </p:nvSpPr>
        <p:spPr>
          <a:xfrm>
            <a:off x="771525" y="4633912"/>
            <a:ext cx="484822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FFFFFF"/>
                </a:solidFill>
                <a:latin typeface="Urbanist"/>
                <a:ea typeface="Urbanist"/>
                <a:cs typeface="Urbanist"/>
                <a:sym typeface="Urbanist"/>
              </a:rPr>
              <a:t>Uma </a:t>
            </a:r>
            <a:r>
              <a:rPr lang="en-US" sz="1650" b="1" i="0" u="none" strike="noStrike" cap="none">
                <a:solidFill>
                  <a:srgbClr val="FFFFFF"/>
                </a:solidFill>
                <a:latin typeface="Urbanist"/>
                <a:ea typeface="Urbanist"/>
                <a:cs typeface="Urbanist"/>
                <a:sym typeface="Urbanist"/>
              </a:rPr>
              <a:t>PESSOA</a:t>
            </a:r>
            <a:r>
              <a:rPr lang="en-US" sz="1650" b="0" i="0" u="none" strike="noStrike" cap="none">
                <a:solidFill>
                  <a:srgbClr val="FFFFFF"/>
                </a:solidFill>
                <a:latin typeface="Urbanist"/>
                <a:ea typeface="Urbanist"/>
                <a:cs typeface="Urbanist"/>
                <a:sym typeface="Urbanist"/>
              </a:rPr>
              <a:t> possui apenas um </a:t>
            </a:r>
            <a:r>
              <a:rPr lang="en-US" sz="1650" b="1" i="0" u="none" strike="noStrike" cap="none">
                <a:solidFill>
                  <a:srgbClr val="FFFFFF"/>
                </a:solidFill>
                <a:latin typeface="Urbanist"/>
                <a:ea typeface="Urbanist"/>
                <a:cs typeface="Urbanist"/>
                <a:sym typeface="Urbanist"/>
              </a:rPr>
              <a:t>CPF</a:t>
            </a:r>
            <a:r>
              <a:rPr lang="en-US" sz="1650" b="0" i="0" u="none" strike="noStrike" cap="none">
                <a:solidFill>
                  <a:srgbClr val="FFFFFF"/>
                </a:solidFill>
                <a:latin typeface="Urbanist"/>
                <a:ea typeface="Urbanist"/>
                <a:cs typeface="Urbanist"/>
                <a:sym typeface="Urbanist"/>
              </a:rPr>
              <a:t> (e vice-versa).</a:t>
            </a:r>
            <a:endParaRPr/>
          </a:p>
        </p:txBody>
      </p:sp>
      <p:sp>
        <p:nvSpPr>
          <p:cNvPr id="311" name="Google Shape;311;p35"/>
          <p:cNvSpPr txBox="1"/>
          <p:nvPr/>
        </p:nvSpPr>
        <p:spPr>
          <a:xfrm>
            <a:off x="809625" y="581025"/>
            <a:ext cx="8021002"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RELACIONAMENTO 1:1 (UM PARA UM)</a:t>
            </a:r>
            <a:endParaRPr/>
          </a:p>
        </p:txBody>
      </p:sp>
      <p:sp>
        <p:nvSpPr>
          <p:cNvPr id="312" name="Google Shape;312;p35"/>
          <p:cNvSpPr/>
          <p:nvPr/>
        </p:nvSpPr>
        <p:spPr>
          <a:xfrm>
            <a:off x="581025" y="581025"/>
            <a:ext cx="76200" cy="55245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16"/>
        <p:cNvGrpSpPr/>
        <p:nvPr/>
      </p:nvGrpSpPr>
      <p:grpSpPr>
        <a:xfrm>
          <a:off x="0" y="0"/>
          <a:ext cx="0" cy="0"/>
          <a:chOff x="0" y="0"/>
          <a:chExt cx="0" cy="0"/>
        </a:xfrm>
      </p:grpSpPr>
      <p:pic>
        <p:nvPicPr>
          <p:cNvPr id="317" name="Google Shape;317;p3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18" name="Google Shape;318;p36" descr="image.png"/>
          <p:cNvPicPr preferRelativeResize="0"/>
          <p:nvPr/>
        </p:nvPicPr>
        <p:blipFill rotWithShape="1">
          <a:blip r:embed="rId4">
            <a:alphaModFix/>
          </a:blip>
          <a:srcRect/>
          <a:stretch/>
        </p:blipFill>
        <p:spPr>
          <a:xfrm>
            <a:off x="6381750" y="2590800"/>
            <a:ext cx="5229225" cy="2609850"/>
          </a:xfrm>
          <a:prstGeom prst="rect">
            <a:avLst/>
          </a:prstGeom>
          <a:noFill/>
          <a:ln>
            <a:noFill/>
          </a:ln>
        </p:spPr>
      </p:pic>
      <p:pic>
        <p:nvPicPr>
          <p:cNvPr id="319" name="Google Shape;319;p36" descr="image.png"/>
          <p:cNvPicPr preferRelativeResize="0"/>
          <p:nvPr/>
        </p:nvPicPr>
        <p:blipFill rotWithShape="1">
          <a:blip r:embed="rId5">
            <a:alphaModFix/>
          </a:blip>
          <a:srcRect/>
          <a:stretch/>
        </p:blipFill>
        <p:spPr>
          <a:xfrm>
            <a:off x="581025" y="3552825"/>
            <a:ext cx="5229225" cy="2266950"/>
          </a:xfrm>
          <a:prstGeom prst="rect">
            <a:avLst/>
          </a:prstGeom>
          <a:noFill/>
          <a:ln>
            <a:noFill/>
          </a:ln>
        </p:spPr>
      </p:pic>
      <p:sp>
        <p:nvSpPr>
          <p:cNvPr id="320" name="Google Shape;320;p36"/>
          <p:cNvSpPr txBox="1"/>
          <p:nvPr/>
        </p:nvSpPr>
        <p:spPr>
          <a:xfrm>
            <a:off x="581025" y="1971675"/>
            <a:ext cx="5490686"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F8FAFC"/>
                </a:solidFill>
                <a:latin typeface="Urbanist"/>
                <a:ea typeface="Urbanist"/>
                <a:cs typeface="Urbanist"/>
                <a:sym typeface="Urbanist"/>
              </a:rPr>
              <a:t>Definição</a:t>
            </a:r>
            <a:endParaRPr/>
          </a:p>
        </p:txBody>
      </p:sp>
      <p:sp>
        <p:nvSpPr>
          <p:cNvPr id="321" name="Google Shape;321;p36"/>
          <p:cNvSpPr txBox="1"/>
          <p:nvPr/>
        </p:nvSpPr>
        <p:spPr>
          <a:xfrm>
            <a:off x="581025" y="2400300"/>
            <a:ext cx="5229225" cy="9429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94A3B8"/>
                </a:solidFill>
                <a:latin typeface="Urbanist"/>
                <a:ea typeface="Urbanist"/>
                <a:cs typeface="Urbanist"/>
                <a:sym typeface="Urbanist"/>
              </a:rPr>
              <a:t>Uma ocorrência da Entidade A pode estar associada a várias da Entidade B, mas a de B só pode estar com uma de A.</a:t>
            </a:r>
            <a:endParaRPr/>
          </a:p>
        </p:txBody>
      </p:sp>
      <p:sp>
        <p:nvSpPr>
          <p:cNvPr id="322" name="Google Shape;322;p36"/>
          <p:cNvSpPr txBox="1"/>
          <p:nvPr/>
        </p:nvSpPr>
        <p:spPr>
          <a:xfrm>
            <a:off x="6772275" y="3248025"/>
            <a:ext cx="4448175" cy="8001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100" b="0" i="0" u="none" strike="noStrike" cap="none">
                <a:solidFill>
                  <a:srgbClr val="22D3EE"/>
                </a:solidFill>
                <a:latin typeface="JetBrains Mono"/>
                <a:ea typeface="JetBrains Mono"/>
                <a:cs typeface="JetBrains Mono"/>
                <a:sym typeface="JetBrains Mono"/>
              </a:rPr>
              <a:t>[Depto] --(1)-- &lt; Losango &gt; --(N)-- [Func]</a:t>
            </a:r>
            <a:endParaRPr/>
          </a:p>
        </p:txBody>
      </p:sp>
      <p:sp>
        <p:nvSpPr>
          <p:cNvPr id="323" name="Google Shape;323;p36"/>
          <p:cNvSpPr txBox="1"/>
          <p:nvPr/>
        </p:nvSpPr>
        <p:spPr>
          <a:xfrm>
            <a:off x="6772275" y="4429125"/>
            <a:ext cx="4448175" cy="2286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94A3B8"/>
                </a:solidFill>
                <a:latin typeface="Urbanist"/>
                <a:ea typeface="Urbanist"/>
                <a:cs typeface="Urbanist"/>
                <a:sym typeface="Urbanist"/>
              </a:rPr>
              <a:t>O tipo mais comum na modelagem de dados.</a:t>
            </a:r>
            <a:endParaRPr/>
          </a:p>
        </p:txBody>
      </p:sp>
      <p:sp>
        <p:nvSpPr>
          <p:cNvPr id="324" name="Google Shape;324;p36"/>
          <p:cNvSpPr txBox="1"/>
          <p:nvPr/>
        </p:nvSpPr>
        <p:spPr>
          <a:xfrm>
            <a:off x="771525" y="3952875"/>
            <a:ext cx="484822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22D3EE"/>
                </a:solidFill>
                <a:latin typeface="Urbanist SemiBold"/>
                <a:ea typeface="Urbanist SemiBold"/>
                <a:cs typeface="Urbanist SemiBold"/>
                <a:sym typeface="Urbanist SemiBold"/>
              </a:rPr>
              <a:t>Exemplo Clássico:</a:t>
            </a:r>
            <a:endParaRPr/>
          </a:p>
        </p:txBody>
      </p:sp>
      <p:sp>
        <p:nvSpPr>
          <p:cNvPr id="325" name="Google Shape;325;p36"/>
          <p:cNvSpPr txBox="1"/>
          <p:nvPr/>
        </p:nvSpPr>
        <p:spPr>
          <a:xfrm>
            <a:off x="771525" y="4476750"/>
            <a:ext cx="4848225" cy="9429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FFFFFF"/>
                </a:solidFill>
                <a:latin typeface="Urbanist"/>
                <a:ea typeface="Urbanist"/>
                <a:cs typeface="Urbanist"/>
                <a:sym typeface="Urbanist"/>
              </a:rPr>
              <a:t>Um </a:t>
            </a:r>
            <a:r>
              <a:rPr lang="en-US" sz="1650" b="1" i="0" u="none" strike="noStrike" cap="none">
                <a:solidFill>
                  <a:srgbClr val="FFFFFF"/>
                </a:solidFill>
                <a:latin typeface="Urbanist"/>
                <a:ea typeface="Urbanist"/>
                <a:cs typeface="Urbanist"/>
                <a:sym typeface="Urbanist"/>
              </a:rPr>
              <a:t>DEPARTAMENTO</a:t>
            </a:r>
            <a:r>
              <a:rPr lang="en-US" sz="1650" b="0" i="0" u="none" strike="noStrike" cap="none">
                <a:solidFill>
                  <a:srgbClr val="FFFFFF"/>
                </a:solidFill>
                <a:latin typeface="Urbanist"/>
                <a:ea typeface="Urbanist"/>
                <a:cs typeface="Urbanist"/>
                <a:sym typeface="Urbanist"/>
              </a:rPr>
              <a:t> possui vários </a:t>
            </a:r>
            <a:r>
              <a:rPr lang="en-US" sz="1650" b="1" i="0" u="none" strike="noStrike" cap="none">
                <a:solidFill>
                  <a:srgbClr val="FFFFFF"/>
                </a:solidFill>
                <a:latin typeface="Urbanist"/>
                <a:ea typeface="Urbanist"/>
                <a:cs typeface="Urbanist"/>
                <a:sym typeface="Urbanist"/>
              </a:rPr>
              <a:t>FUNCIONÁRIOS</a:t>
            </a:r>
            <a:r>
              <a:rPr lang="en-US" sz="1650" b="0" i="0" u="none" strike="noStrike" cap="none">
                <a:solidFill>
                  <a:srgbClr val="FFFFFF"/>
                </a:solidFill>
                <a:latin typeface="Urbanist"/>
                <a:ea typeface="Urbanist"/>
                <a:cs typeface="Urbanist"/>
                <a:sym typeface="Urbanist"/>
              </a:rPr>
              <a:t>, mas um funcionário pertence a apenas um departamento.</a:t>
            </a:r>
            <a:endParaRPr/>
          </a:p>
        </p:txBody>
      </p:sp>
      <p:sp>
        <p:nvSpPr>
          <p:cNvPr id="326" name="Google Shape;326;p36"/>
          <p:cNvSpPr txBox="1"/>
          <p:nvPr/>
        </p:nvSpPr>
        <p:spPr>
          <a:xfrm>
            <a:off x="809625" y="581025"/>
            <a:ext cx="920115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RELACIONAMENTO 1:N (UM PARA MUITOS)</a:t>
            </a:r>
            <a:endParaRPr/>
          </a:p>
        </p:txBody>
      </p:sp>
      <p:sp>
        <p:nvSpPr>
          <p:cNvPr id="327" name="Google Shape;327;p36"/>
          <p:cNvSpPr/>
          <p:nvPr/>
        </p:nvSpPr>
        <p:spPr>
          <a:xfrm>
            <a:off x="581025" y="581025"/>
            <a:ext cx="76200" cy="55245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1"/>
        <p:cNvGrpSpPr/>
        <p:nvPr/>
      </p:nvGrpSpPr>
      <p:grpSpPr>
        <a:xfrm>
          <a:off x="0" y="0"/>
          <a:ext cx="0" cy="0"/>
          <a:chOff x="0" y="0"/>
          <a:chExt cx="0" cy="0"/>
        </a:xfrm>
      </p:grpSpPr>
      <p:pic>
        <p:nvPicPr>
          <p:cNvPr id="332" name="Google Shape;332;p3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33" name="Google Shape;333;p37" descr="image.png"/>
          <p:cNvPicPr preferRelativeResize="0"/>
          <p:nvPr/>
        </p:nvPicPr>
        <p:blipFill rotWithShape="1">
          <a:blip r:embed="rId4">
            <a:alphaModFix/>
          </a:blip>
          <a:srcRect/>
          <a:stretch/>
        </p:blipFill>
        <p:spPr>
          <a:xfrm>
            <a:off x="6381750" y="2590800"/>
            <a:ext cx="5229225" cy="2609850"/>
          </a:xfrm>
          <a:prstGeom prst="rect">
            <a:avLst/>
          </a:prstGeom>
          <a:noFill/>
          <a:ln>
            <a:noFill/>
          </a:ln>
        </p:spPr>
      </p:pic>
      <p:pic>
        <p:nvPicPr>
          <p:cNvPr id="334" name="Google Shape;334;p37" descr="image.png"/>
          <p:cNvPicPr preferRelativeResize="0"/>
          <p:nvPr/>
        </p:nvPicPr>
        <p:blipFill rotWithShape="1">
          <a:blip r:embed="rId5">
            <a:alphaModFix/>
          </a:blip>
          <a:srcRect/>
          <a:stretch/>
        </p:blipFill>
        <p:spPr>
          <a:xfrm>
            <a:off x="581025" y="3552825"/>
            <a:ext cx="5229225" cy="1952625"/>
          </a:xfrm>
          <a:prstGeom prst="rect">
            <a:avLst/>
          </a:prstGeom>
          <a:noFill/>
          <a:ln>
            <a:noFill/>
          </a:ln>
        </p:spPr>
      </p:pic>
      <p:sp>
        <p:nvSpPr>
          <p:cNvPr id="335" name="Google Shape;335;p37"/>
          <p:cNvSpPr txBox="1"/>
          <p:nvPr/>
        </p:nvSpPr>
        <p:spPr>
          <a:xfrm>
            <a:off x="581025" y="2286000"/>
            <a:ext cx="5490686"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F8FAFC"/>
                </a:solidFill>
                <a:latin typeface="Urbanist"/>
                <a:ea typeface="Urbanist"/>
                <a:cs typeface="Urbanist"/>
                <a:sym typeface="Urbanist"/>
              </a:rPr>
              <a:t>Definição</a:t>
            </a:r>
            <a:endParaRPr/>
          </a:p>
        </p:txBody>
      </p:sp>
      <p:sp>
        <p:nvSpPr>
          <p:cNvPr id="336" name="Google Shape;336;p37"/>
          <p:cNvSpPr txBox="1"/>
          <p:nvPr/>
        </p:nvSpPr>
        <p:spPr>
          <a:xfrm>
            <a:off x="581025" y="2714625"/>
            <a:ext cx="5229225"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94A3B8"/>
                </a:solidFill>
                <a:latin typeface="Urbanist"/>
                <a:ea typeface="Urbanist"/>
                <a:cs typeface="Urbanist"/>
                <a:sym typeface="Urbanist"/>
              </a:rPr>
              <a:t>Muitas ocorrências da Entidade A podem estar associadas a várias da B, e vice-versa.</a:t>
            </a:r>
            <a:endParaRPr/>
          </a:p>
        </p:txBody>
      </p:sp>
      <p:sp>
        <p:nvSpPr>
          <p:cNvPr id="337" name="Google Shape;337;p37"/>
          <p:cNvSpPr txBox="1"/>
          <p:nvPr/>
        </p:nvSpPr>
        <p:spPr>
          <a:xfrm>
            <a:off x="6772275" y="3248025"/>
            <a:ext cx="4448175" cy="8001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100" b="0" i="0" u="none" strike="noStrike" cap="none">
                <a:solidFill>
                  <a:srgbClr val="22D3EE"/>
                </a:solidFill>
                <a:latin typeface="JetBrains Mono"/>
                <a:ea typeface="JetBrains Mono"/>
                <a:cs typeface="JetBrains Mono"/>
                <a:sym typeface="JetBrains Mono"/>
              </a:rPr>
              <a:t>[Aluno] --(N)-- &lt; Losango &gt; --(N)-- [Disc]</a:t>
            </a:r>
            <a:endParaRPr/>
          </a:p>
        </p:txBody>
      </p:sp>
      <p:sp>
        <p:nvSpPr>
          <p:cNvPr id="338" name="Google Shape;338;p37"/>
          <p:cNvSpPr txBox="1"/>
          <p:nvPr/>
        </p:nvSpPr>
        <p:spPr>
          <a:xfrm>
            <a:off x="6772275" y="4429125"/>
            <a:ext cx="4448175" cy="2286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94A3B8"/>
                </a:solidFill>
                <a:latin typeface="Urbanist"/>
                <a:ea typeface="Urbanist"/>
                <a:cs typeface="Urbanist"/>
                <a:sym typeface="Urbanist"/>
              </a:rPr>
              <a:t>No futuro (Modelo Lógico), isso gerará uma terceira tabela.</a:t>
            </a:r>
            <a:endParaRPr/>
          </a:p>
        </p:txBody>
      </p:sp>
      <p:sp>
        <p:nvSpPr>
          <p:cNvPr id="339" name="Google Shape;339;p37"/>
          <p:cNvSpPr txBox="1"/>
          <p:nvPr/>
        </p:nvSpPr>
        <p:spPr>
          <a:xfrm>
            <a:off x="771525" y="3952875"/>
            <a:ext cx="484822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22D3EE"/>
                </a:solidFill>
                <a:latin typeface="Urbanist SemiBold"/>
                <a:ea typeface="Urbanist SemiBold"/>
                <a:cs typeface="Urbanist SemiBold"/>
                <a:sym typeface="Urbanist SemiBold"/>
              </a:rPr>
              <a:t>Exemplo Clássico:</a:t>
            </a:r>
            <a:endParaRPr/>
          </a:p>
        </p:txBody>
      </p:sp>
      <p:sp>
        <p:nvSpPr>
          <p:cNvPr id="340" name="Google Shape;340;p37"/>
          <p:cNvSpPr txBox="1"/>
          <p:nvPr/>
        </p:nvSpPr>
        <p:spPr>
          <a:xfrm>
            <a:off x="771525" y="4476750"/>
            <a:ext cx="4848225"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FFFFFF"/>
                </a:solidFill>
                <a:latin typeface="Urbanist"/>
                <a:ea typeface="Urbanist"/>
                <a:cs typeface="Urbanist"/>
                <a:sym typeface="Urbanist"/>
              </a:rPr>
              <a:t>Um </a:t>
            </a:r>
            <a:r>
              <a:rPr lang="en-US" sz="1650" b="1" i="0" u="none" strike="noStrike" cap="none">
                <a:solidFill>
                  <a:srgbClr val="FFFFFF"/>
                </a:solidFill>
                <a:latin typeface="Urbanist"/>
                <a:ea typeface="Urbanist"/>
                <a:cs typeface="Urbanist"/>
                <a:sym typeface="Urbanist"/>
              </a:rPr>
              <a:t>ALUNO</a:t>
            </a:r>
            <a:r>
              <a:rPr lang="en-US" sz="1650" b="0" i="0" u="none" strike="noStrike" cap="none">
                <a:solidFill>
                  <a:srgbClr val="FFFFFF"/>
                </a:solidFill>
                <a:latin typeface="Urbanist"/>
                <a:ea typeface="Urbanist"/>
                <a:cs typeface="Urbanist"/>
                <a:sym typeface="Urbanist"/>
              </a:rPr>
              <a:t> se matricula em várias </a:t>
            </a:r>
            <a:r>
              <a:rPr lang="en-US" sz="1650" b="1" i="0" u="none" strike="noStrike" cap="none">
                <a:solidFill>
                  <a:srgbClr val="FFFFFF"/>
                </a:solidFill>
                <a:latin typeface="Urbanist"/>
                <a:ea typeface="Urbanist"/>
                <a:cs typeface="Urbanist"/>
                <a:sym typeface="Urbanist"/>
              </a:rPr>
              <a:t>DISCIPLINAS</a:t>
            </a:r>
            <a:r>
              <a:rPr lang="en-US" sz="1650" b="0" i="0" u="none" strike="noStrike" cap="none">
                <a:solidFill>
                  <a:srgbClr val="FFFFFF"/>
                </a:solidFill>
                <a:latin typeface="Urbanist"/>
                <a:ea typeface="Urbanist"/>
                <a:cs typeface="Urbanist"/>
                <a:sym typeface="Urbanist"/>
              </a:rPr>
              <a:t>, e uma disciplina possui vários alunos.</a:t>
            </a:r>
            <a:endParaRPr/>
          </a:p>
        </p:txBody>
      </p:sp>
      <p:sp>
        <p:nvSpPr>
          <p:cNvPr id="341" name="Google Shape;341;p37"/>
          <p:cNvSpPr txBox="1"/>
          <p:nvPr/>
        </p:nvSpPr>
        <p:spPr>
          <a:xfrm>
            <a:off x="809625" y="581025"/>
            <a:ext cx="10381297"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RELACIONAMENTO N:N (MUITOS PARA MUITOS)</a:t>
            </a:r>
            <a:endParaRPr/>
          </a:p>
        </p:txBody>
      </p:sp>
      <p:sp>
        <p:nvSpPr>
          <p:cNvPr id="342" name="Google Shape;342;p37"/>
          <p:cNvSpPr/>
          <p:nvPr/>
        </p:nvSpPr>
        <p:spPr>
          <a:xfrm>
            <a:off x="581025" y="581025"/>
            <a:ext cx="76200" cy="55245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46"/>
        <p:cNvGrpSpPr/>
        <p:nvPr/>
      </p:nvGrpSpPr>
      <p:grpSpPr>
        <a:xfrm>
          <a:off x="0" y="0"/>
          <a:ext cx="0" cy="0"/>
          <a:chOff x="0" y="0"/>
          <a:chExt cx="0" cy="0"/>
        </a:xfrm>
      </p:grpSpPr>
      <p:pic>
        <p:nvPicPr>
          <p:cNvPr id="347" name="Google Shape;347;p3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48" name="Google Shape;348;p38" descr="image.png"/>
          <p:cNvPicPr preferRelativeResize="0"/>
          <p:nvPr/>
        </p:nvPicPr>
        <p:blipFill rotWithShape="1">
          <a:blip r:embed="rId4">
            <a:alphaModFix/>
          </a:blip>
          <a:srcRect/>
          <a:stretch/>
        </p:blipFill>
        <p:spPr>
          <a:xfrm>
            <a:off x="1508521" y="3119437"/>
            <a:ext cx="571500" cy="571500"/>
          </a:xfrm>
          <a:prstGeom prst="rect">
            <a:avLst/>
          </a:prstGeom>
          <a:noFill/>
          <a:ln>
            <a:noFill/>
          </a:ln>
        </p:spPr>
      </p:pic>
      <p:pic>
        <p:nvPicPr>
          <p:cNvPr id="349" name="Google Shape;349;p38" descr="image.png"/>
          <p:cNvPicPr preferRelativeResize="0"/>
          <p:nvPr/>
        </p:nvPicPr>
        <p:blipFill rotWithShape="1">
          <a:blip r:embed="rId5">
            <a:alphaModFix/>
          </a:blip>
          <a:srcRect/>
          <a:stretch/>
        </p:blipFill>
        <p:spPr>
          <a:xfrm>
            <a:off x="4376291" y="3119437"/>
            <a:ext cx="571500" cy="571500"/>
          </a:xfrm>
          <a:prstGeom prst="rect">
            <a:avLst/>
          </a:prstGeom>
          <a:noFill/>
          <a:ln>
            <a:noFill/>
          </a:ln>
        </p:spPr>
      </p:pic>
      <p:pic>
        <p:nvPicPr>
          <p:cNvPr id="350" name="Google Shape;350;p38" descr="image.png"/>
          <p:cNvPicPr preferRelativeResize="0"/>
          <p:nvPr/>
        </p:nvPicPr>
        <p:blipFill rotWithShape="1">
          <a:blip r:embed="rId6">
            <a:alphaModFix/>
          </a:blip>
          <a:srcRect/>
          <a:stretch/>
        </p:blipFill>
        <p:spPr>
          <a:xfrm>
            <a:off x="7244060" y="3119437"/>
            <a:ext cx="571500" cy="571500"/>
          </a:xfrm>
          <a:prstGeom prst="rect">
            <a:avLst/>
          </a:prstGeom>
          <a:noFill/>
          <a:ln>
            <a:noFill/>
          </a:ln>
        </p:spPr>
      </p:pic>
      <p:pic>
        <p:nvPicPr>
          <p:cNvPr id="351" name="Google Shape;351;p38" descr="image.png"/>
          <p:cNvPicPr preferRelativeResize="0"/>
          <p:nvPr/>
        </p:nvPicPr>
        <p:blipFill rotWithShape="1">
          <a:blip r:embed="rId7">
            <a:alphaModFix/>
          </a:blip>
          <a:srcRect/>
          <a:stretch/>
        </p:blipFill>
        <p:spPr>
          <a:xfrm>
            <a:off x="10111829" y="3119437"/>
            <a:ext cx="571500" cy="571500"/>
          </a:xfrm>
          <a:prstGeom prst="rect">
            <a:avLst/>
          </a:prstGeom>
          <a:noFill/>
          <a:ln>
            <a:noFill/>
          </a:ln>
        </p:spPr>
      </p:pic>
      <p:sp>
        <p:nvSpPr>
          <p:cNvPr id="352" name="Google Shape;352;p38"/>
          <p:cNvSpPr/>
          <p:nvPr/>
        </p:nvSpPr>
        <p:spPr>
          <a:xfrm>
            <a:off x="581025" y="3595687"/>
            <a:ext cx="11029950" cy="381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3" name="Google Shape;353;p38"/>
          <p:cNvSpPr txBox="1"/>
          <p:nvPr/>
        </p:nvSpPr>
        <p:spPr>
          <a:xfrm>
            <a:off x="520362" y="3881437"/>
            <a:ext cx="2547818"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F8FAFC"/>
                </a:solidFill>
                <a:latin typeface="Urbanist"/>
                <a:ea typeface="Urbanist"/>
                <a:cs typeface="Urbanist"/>
                <a:sym typeface="Urbanist"/>
              </a:rPr>
              <a:t>Identificar</a:t>
            </a:r>
            <a:endParaRPr/>
          </a:p>
        </p:txBody>
      </p:sp>
      <p:sp>
        <p:nvSpPr>
          <p:cNvPr id="354" name="Google Shape;354;p38"/>
          <p:cNvSpPr txBox="1"/>
          <p:nvPr/>
        </p:nvSpPr>
        <p:spPr>
          <a:xfrm>
            <a:off x="581025" y="4310062"/>
            <a:ext cx="2426493" cy="6286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94A3B8"/>
                </a:solidFill>
                <a:latin typeface="Urbanist"/>
                <a:ea typeface="Urbanist"/>
                <a:cs typeface="Urbanist"/>
                <a:sym typeface="Urbanist"/>
              </a:rPr>
              <a:t>Liste os substantivos (Entidades).</a:t>
            </a:r>
            <a:endParaRPr/>
          </a:p>
        </p:txBody>
      </p:sp>
      <p:sp>
        <p:nvSpPr>
          <p:cNvPr id="355" name="Google Shape;355;p38"/>
          <p:cNvSpPr txBox="1"/>
          <p:nvPr/>
        </p:nvSpPr>
        <p:spPr>
          <a:xfrm>
            <a:off x="3388131" y="3881437"/>
            <a:ext cx="2547818"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F8FAFC"/>
                </a:solidFill>
                <a:latin typeface="Urbanist"/>
                <a:ea typeface="Urbanist"/>
                <a:cs typeface="Urbanist"/>
                <a:sym typeface="Urbanist"/>
              </a:rPr>
              <a:t>Descrever</a:t>
            </a:r>
            <a:endParaRPr/>
          </a:p>
        </p:txBody>
      </p:sp>
      <p:sp>
        <p:nvSpPr>
          <p:cNvPr id="356" name="Google Shape;356;p38"/>
          <p:cNvSpPr txBox="1"/>
          <p:nvPr/>
        </p:nvSpPr>
        <p:spPr>
          <a:xfrm>
            <a:off x="3448794" y="4310062"/>
            <a:ext cx="2426493" cy="6286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94A3B8"/>
                </a:solidFill>
                <a:latin typeface="Urbanist"/>
                <a:ea typeface="Urbanist"/>
                <a:cs typeface="Urbanist"/>
                <a:sym typeface="Urbanist"/>
              </a:rPr>
              <a:t>Liste as propriedades (Atributos).</a:t>
            </a:r>
            <a:endParaRPr/>
          </a:p>
        </p:txBody>
      </p:sp>
      <p:sp>
        <p:nvSpPr>
          <p:cNvPr id="357" name="Google Shape;357;p38"/>
          <p:cNvSpPr txBox="1"/>
          <p:nvPr/>
        </p:nvSpPr>
        <p:spPr>
          <a:xfrm>
            <a:off x="6255900" y="3881437"/>
            <a:ext cx="2547818"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F8FAFC"/>
                </a:solidFill>
                <a:latin typeface="Urbanist"/>
                <a:ea typeface="Urbanist"/>
                <a:cs typeface="Urbanist"/>
                <a:sym typeface="Urbanist"/>
              </a:rPr>
              <a:t>Conectar</a:t>
            </a:r>
            <a:endParaRPr/>
          </a:p>
        </p:txBody>
      </p:sp>
      <p:sp>
        <p:nvSpPr>
          <p:cNvPr id="358" name="Google Shape;358;p38"/>
          <p:cNvSpPr txBox="1"/>
          <p:nvPr/>
        </p:nvSpPr>
        <p:spPr>
          <a:xfrm>
            <a:off x="6316563" y="4310062"/>
            <a:ext cx="2426493" cy="6286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94A3B8"/>
                </a:solidFill>
                <a:latin typeface="Urbanist"/>
                <a:ea typeface="Urbanist"/>
                <a:cs typeface="Urbanist"/>
                <a:sym typeface="Urbanist"/>
              </a:rPr>
              <a:t>Trace os verbos (Relacionamentos).</a:t>
            </a:r>
            <a:endParaRPr/>
          </a:p>
        </p:txBody>
      </p:sp>
      <p:sp>
        <p:nvSpPr>
          <p:cNvPr id="359" name="Google Shape;359;p38"/>
          <p:cNvSpPr txBox="1"/>
          <p:nvPr/>
        </p:nvSpPr>
        <p:spPr>
          <a:xfrm>
            <a:off x="9123670" y="3881437"/>
            <a:ext cx="2547818"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F8FAFC"/>
                </a:solidFill>
                <a:latin typeface="Urbanist"/>
                <a:ea typeface="Urbanist"/>
                <a:cs typeface="Urbanist"/>
                <a:sym typeface="Urbanist"/>
              </a:rPr>
              <a:t>Quantificar</a:t>
            </a:r>
            <a:endParaRPr/>
          </a:p>
        </p:txBody>
      </p:sp>
      <p:sp>
        <p:nvSpPr>
          <p:cNvPr id="360" name="Google Shape;360;p38"/>
          <p:cNvSpPr txBox="1"/>
          <p:nvPr/>
        </p:nvSpPr>
        <p:spPr>
          <a:xfrm>
            <a:off x="9184332" y="4310062"/>
            <a:ext cx="2426493"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94A3B8"/>
                </a:solidFill>
                <a:latin typeface="Urbanist"/>
                <a:ea typeface="Urbanist"/>
                <a:cs typeface="Urbanist"/>
                <a:sym typeface="Urbanist"/>
              </a:rPr>
              <a:t>Defina a Cardinalidade.</a:t>
            </a:r>
            <a:endParaRPr/>
          </a:p>
        </p:txBody>
      </p:sp>
      <p:sp>
        <p:nvSpPr>
          <p:cNvPr id="361" name="Google Shape;361;p38"/>
          <p:cNvSpPr txBox="1"/>
          <p:nvPr/>
        </p:nvSpPr>
        <p:spPr>
          <a:xfrm>
            <a:off x="809625" y="581025"/>
            <a:ext cx="632079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Urbanist"/>
                <a:ea typeface="Urbanist"/>
                <a:cs typeface="Urbanist"/>
                <a:sym typeface="Urbanist"/>
              </a:rPr>
              <a:t>COMO MONTAR O MODELO?</a:t>
            </a:r>
            <a:endParaRPr/>
          </a:p>
        </p:txBody>
      </p:sp>
      <p:sp>
        <p:nvSpPr>
          <p:cNvPr id="362" name="Google Shape;362;p38"/>
          <p:cNvSpPr/>
          <p:nvPr/>
        </p:nvSpPr>
        <p:spPr>
          <a:xfrm>
            <a:off x="581025" y="581025"/>
            <a:ext cx="76200" cy="552450"/>
          </a:xfrm>
          <a:prstGeom prst="rect">
            <a:avLst/>
          </a:prstGeom>
          <a:solidFill>
            <a:srgbClr val="22D3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66"/>
        <p:cNvGrpSpPr/>
        <p:nvPr/>
      </p:nvGrpSpPr>
      <p:grpSpPr>
        <a:xfrm>
          <a:off x="0" y="0"/>
          <a:ext cx="0" cy="0"/>
          <a:chOff x="0" y="0"/>
          <a:chExt cx="0" cy="0"/>
        </a:xfrm>
      </p:grpSpPr>
      <p:pic>
        <p:nvPicPr>
          <p:cNvPr id="367" name="Google Shape;367;p3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68" name="Google Shape;368;p39" descr="image.png"/>
          <p:cNvPicPr preferRelativeResize="0"/>
          <p:nvPr/>
        </p:nvPicPr>
        <p:blipFill rotWithShape="1">
          <a:blip r:embed="rId4">
            <a:alphaModFix/>
          </a:blip>
          <a:srcRect/>
          <a:stretch/>
        </p:blipFill>
        <p:spPr>
          <a:xfrm>
            <a:off x="771525" y="2776537"/>
            <a:ext cx="5715000" cy="3381375"/>
          </a:xfrm>
          <a:prstGeom prst="rect">
            <a:avLst/>
          </a:prstGeom>
          <a:noFill/>
          <a:ln>
            <a:noFill/>
          </a:ln>
        </p:spPr>
      </p:pic>
      <p:pic>
        <p:nvPicPr>
          <p:cNvPr id="369" name="Google Shape;369;p39" descr="image.png"/>
          <p:cNvPicPr preferRelativeResize="0"/>
          <p:nvPr/>
        </p:nvPicPr>
        <p:blipFill rotWithShape="1">
          <a:blip r:embed="rId5">
            <a:alphaModFix/>
          </a:blip>
          <a:srcRect/>
          <a:stretch/>
        </p:blipFill>
        <p:spPr>
          <a:xfrm>
            <a:off x="9525" y="9525"/>
            <a:ext cx="12172950" cy="6838950"/>
          </a:xfrm>
          <a:prstGeom prst="rect">
            <a:avLst/>
          </a:prstGeom>
          <a:noFill/>
          <a:ln>
            <a:noFill/>
          </a:ln>
        </p:spPr>
      </p:pic>
      <p:sp>
        <p:nvSpPr>
          <p:cNvPr id="370" name="Google Shape;370;p39"/>
          <p:cNvSpPr txBox="1"/>
          <p:nvPr/>
        </p:nvSpPr>
        <p:spPr>
          <a:xfrm>
            <a:off x="771525" y="700087"/>
            <a:ext cx="11181397" cy="638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200" b="1" i="0" u="none" strike="noStrike" cap="none">
                <a:solidFill>
                  <a:srgbClr val="F8FAFC"/>
                </a:solidFill>
                <a:latin typeface="Urbanist"/>
                <a:ea typeface="Urbanist"/>
                <a:cs typeface="Urbanist"/>
                <a:sym typeface="Urbanist"/>
              </a:rPr>
              <a:t>Exemplo: Biblioteca</a:t>
            </a:r>
            <a:endParaRPr/>
          </a:p>
        </p:txBody>
      </p:sp>
      <p:sp>
        <p:nvSpPr>
          <p:cNvPr id="371" name="Google Shape;371;p39"/>
          <p:cNvSpPr txBox="1"/>
          <p:nvPr/>
        </p:nvSpPr>
        <p:spPr>
          <a:xfrm>
            <a:off x="771525" y="1776412"/>
            <a:ext cx="5715000" cy="3714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950" b="0" i="0" u="none" strike="noStrike" cap="none">
                <a:solidFill>
                  <a:srgbClr val="CBD5E1"/>
                </a:solidFill>
                <a:latin typeface="Urbanist"/>
                <a:ea typeface="Urbanist"/>
                <a:cs typeface="Urbanist"/>
                <a:sym typeface="Urbanist"/>
              </a:rPr>
              <a:t>Imagine um sistema simples:</a:t>
            </a:r>
            <a:endParaRPr/>
          </a:p>
        </p:txBody>
      </p:sp>
      <p:sp>
        <p:nvSpPr>
          <p:cNvPr id="372" name="Google Shape;372;p39"/>
          <p:cNvSpPr txBox="1"/>
          <p:nvPr/>
        </p:nvSpPr>
        <p:spPr>
          <a:xfrm>
            <a:off x="1228725" y="3367087"/>
            <a:ext cx="4876800"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FFFFFF"/>
                </a:solidFill>
                <a:latin typeface="Urbanist"/>
                <a:ea typeface="Urbanist"/>
                <a:cs typeface="Urbanist"/>
                <a:sym typeface="Urbanist"/>
              </a:rPr>
              <a:t>1. </a:t>
            </a:r>
            <a:r>
              <a:rPr lang="en-US" sz="1650" b="1" i="0" u="none" strike="noStrike" cap="none">
                <a:solidFill>
                  <a:srgbClr val="FFFFFF"/>
                </a:solidFill>
                <a:latin typeface="Urbanist"/>
                <a:ea typeface="Urbanist"/>
                <a:cs typeface="Urbanist"/>
                <a:sym typeface="Urbanist"/>
              </a:rPr>
              <a:t>ENTIDADES:</a:t>
            </a:r>
            <a:r>
              <a:rPr lang="en-US" sz="1650" b="0" i="0" u="none" strike="noStrike" cap="none">
                <a:solidFill>
                  <a:srgbClr val="FFFFFF"/>
                </a:solidFill>
                <a:latin typeface="Urbanist"/>
                <a:ea typeface="Urbanist"/>
                <a:cs typeface="Urbanist"/>
                <a:sym typeface="Urbanist"/>
              </a:rPr>
              <a:t> LIVRO, AUTOR.</a:t>
            </a:r>
            <a:endParaRPr/>
          </a:p>
        </p:txBody>
      </p:sp>
      <p:sp>
        <p:nvSpPr>
          <p:cNvPr id="373" name="Google Shape;373;p39"/>
          <p:cNvSpPr txBox="1"/>
          <p:nvPr/>
        </p:nvSpPr>
        <p:spPr>
          <a:xfrm>
            <a:off x="1228725" y="3890962"/>
            <a:ext cx="4876800"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FFFFFF"/>
                </a:solidFill>
                <a:latin typeface="Urbanist"/>
                <a:ea typeface="Urbanist"/>
                <a:cs typeface="Urbanist"/>
                <a:sym typeface="Urbanist"/>
              </a:rPr>
              <a:t>2. </a:t>
            </a:r>
            <a:r>
              <a:rPr lang="en-US" sz="1650" b="1" i="0" u="none" strike="noStrike" cap="none">
                <a:solidFill>
                  <a:srgbClr val="FFFFFF"/>
                </a:solidFill>
                <a:latin typeface="Urbanist"/>
                <a:ea typeface="Urbanist"/>
                <a:cs typeface="Urbanist"/>
                <a:sym typeface="Urbanist"/>
              </a:rPr>
              <a:t>ATRIBUTOS (LIVRO):</a:t>
            </a:r>
            <a:r>
              <a:rPr lang="en-US" sz="1650" b="0" i="0" u="none" strike="noStrike" cap="none">
                <a:solidFill>
                  <a:srgbClr val="FFFFFF"/>
                </a:solidFill>
                <a:latin typeface="Urbanist"/>
                <a:ea typeface="Urbanist"/>
                <a:cs typeface="Urbanist"/>
                <a:sym typeface="Urbanist"/>
              </a:rPr>
              <a:t> Título, ISBN, Ano.</a:t>
            </a:r>
            <a:endParaRPr/>
          </a:p>
        </p:txBody>
      </p:sp>
      <p:sp>
        <p:nvSpPr>
          <p:cNvPr id="374" name="Google Shape;374;p39"/>
          <p:cNvSpPr txBox="1"/>
          <p:nvPr/>
        </p:nvSpPr>
        <p:spPr>
          <a:xfrm>
            <a:off x="1228725" y="4414837"/>
            <a:ext cx="4876800"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FFFFFF"/>
                </a:solidFill>
                <a:latin typeface="Urbanist"/>
                <a:ea typeface="Urbanist"/>
                <a:cs typeface="Urbanist"/>
                <a:sym typeface="Urbanist"/>
              </a:rPr>
              <a:t>3. </a:t>
            </a:r>
            <a:r>
              <a:rPr lang="en-US" sz="1650" b="1" i="0" u="none" strike="noStrike" cap="none">
                <a:solidFill>
                  <a:srgbClr val="FFFFFF"/>
                </a:solidFill>
                <a:latin typeface="Urbanist"/>
                <a:ea typeface="Urbanist"/>
                <a:cs typeface="Urbanist"/>
                <a:sym typeface="Urbanist"/>
              </a:rPr>
              <a:t>RELACIONAMENTO:</a:t>
            </a:r>
            <a:r>
              <a:rPr lang="en-US" sz="1650" b="0" i="0" u="none" strike="noStrike" cap="none">
                <a:solidFill>
                  <a:srgbClr val="FFFFFF"/>
                </a:solidFill>
                <a:latin typeface="Urbanist"/>
                <a:ea typeface="Urbanist"/>
                <a:cs typeface="Urbanist"/>
                <a:sym typeface="Urbanist"/>
              </a:rPr>
              <a:t> LIVRO </a:t>
            </a:r>
            <a:r>
              <a:rPr lang="en-US" sz="1650" b="0" i="0" u="none" strike="noStrike" cap="none">
                <a:solidFill>
                  <a:srgbClr val="22D3EE"/>
                </a:solidFill>
                <a:latin typeface="Urbanist SemiBold"/>
                <a:ea typeface="Urbanist SemiBold"/>
                <a:cs typeface="Urbanist SemiBold"/>
                <a:sym typeface="Urbanist SemiBold"/>
              </a:rPr>
              <a:t>Escrito por</a:t>
            </a:r>
            <a:r>
              <a:rPr lang="en-US" sz="1650" b="0" i="0" u="none" strike="noStrike" cap="none">
                <a:solidFill>
                  <a:srgbClr val="FFFFFF"/>
                </a:solidFill>
                <a:latin typeface="Urbanist"/>
                <a:ea typeface="Urbanist"/>
                <a:cs typeface="Urbanist"/>
                <a:sym typeface="Urbanist"/>
              </a:rPr>
              <a:t> AUTOR.</a:t>
            </a:r>
            <a:endParaRPr/>
          </a:p>
        </p:txBody>
      </p:sp>
      <p:sp>
        <p:nvSpPr>
          <p:cNvPr id="375" name="Google Shape;375;p39"/>
          <p:cNvSpPr txBox="1"/>
          <p:nvPr/>
        </p:nvSpPr>
        <p:spPr>
          <a:xfrm>
            <a:off x="1228725" y="4938712"/>
            <a:ext cx="4876800"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FFFFFF"/>
                </a:solidFill>
                <a:latin typeface="Urbanist"/>
                <a:ea typeface="Urbanist"/>
                <a:cs typeface="Urbanist"/>
                <a:sym typeface="Urbanist"/>
              </a:rPr>
              <a:t>4. </a:t>
            </a:r>
            <a:r>
              <a:rPr lang="en-US" sz="1650" b="1" i="0" u="none" strike="noStrike" cap="none">
                <a:solidFill>
                  <a:srgbClr val="FFFFFF"/>
                </a:solidFill>
                <a:latin typeface="Urbanist"/>
                <a:ea typeface="Urbanist"/>
                <a:cs typeface="Urbanist"/>
                <a:sym typeface="Urbanist"/>
              </a:rPr>
              <a:t>CARDINALIDADE:</a:t>
            </a:r>
            <a:r>
              <a:rPr lang="en-US" sz="1650" b="0" i="0" u="none" strike="noStrike" cap="none">
                <a:solidFill>
                  <a:srgbClr val="FFFFFF"/>
                </a:solidFill>
                <a:latin typeface="Urbanist"/>
                <a:ea typeface="Urbanist"/>
                <a:cs typeface="Urbanist"/>
                <a:sym typeface="Urbanist"/>
              </a:rPr>
              <a:t> 1:N (Um autor escreve vários livros).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1110</Words>
  <Application>Microsoft Office PowerPoint</Application>
  <PresentationFormat>Widescreen</PresentationFormat>
  <Paragraphs>112</Paragraphs>
  <Slides>27</Slides>
  <Notes>27</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27</vt:i4>
      </vt:variant>
    </vt:vector>
  </HeadingPairs>
  <TitlesOfParts>
    <vt:vector size="33" baseType="lpstr">
      <vt:lpstr>Arial</vt:lpstr>
      <vt:lpstr>Calibri</vt:lpstr>
      <vt:lpstr>Urbanist SemiBold</vt:lpstr>
      <vt:lpstr>Urbanist</vt:lpstr>
      <vt:lpstr>JetBrains Mono</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cp:lastModifiedBy>Prof. Juliana de Sá</cp:lastModifiedBy>
  <cp:revision>1</cp:revision>
  <dcterms:modified xsi:type="dcterms:W3CDTF">2026-03-04T00:01:07Z</dcterms:modified>
</cp:coreProperties>
</file>