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</p:sldIdLst>
  <p:sldSz cy="6858000" cx="12192000"/>
  <p:notesSz cx="6858000" cy="9144000"/>
  <p:embeddedFontLst>
    <p:embeddedFont>
      <p:font typeface="Inter SemiBold"/>
      <p:regular r:id="rId8"/>
      <p:bold r:id="rId9"/>
      <p:italic r:id="rId10"/>
      <p:boldItalic r:id="rId11"/>
    </p:embeddedFont>
    <p:embeddedFont>
      <p:font typeface="Poppins"/>
      <p:regular r:id="rId12"/>
      <p:bold r:id="rId13"/>
      <p:italic r:id="rId14"/>
      <p:boldItalic r:id="rId15"/>
    </p:embeddedFont>
    <p:embeddedFont>
      <p:font typeface="Inter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InterSemiBold-boldItalic.fntdata"/><Relationship Id="rId10" Type="http://schemas.openxmlformats.org/officeDocument/2006/relationships/font" Target="fonts/InterSemiBold-italic.fntdata"/><Relationship Id="rId13" Type="http://schemas.openxmlformats.org/officeDocument/2006/relationships/font" Target="fonts/Poppins-bold.fntdata"/><Relationship Id="rId12" Type="http://schemas.openxmlformats.org/officeDocument/2006/relationships/font" Target="fonts/Poppins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InterSemiBold-bold.fntdata"/><Relationship Id="rId15" Type="http://schemas.openxmlformats.org/officeDocument/2006/relationships/font" Target="fonts/Poppins-boldItalic.fntdata"/><Relationship Id="rId14" Type="http://schemas.openxmlformats.org/officeDocument/2006/relationships/font" Target="fonts/Poppins-italic.fntdata"/><Relationship Id="rId17" Type="http://schemas.openxmlformats.org/officeDocument/2006/relationships/font" Target="fonts/Inter-bold.fntdata"/><Relationship Id="rId16" Type="http://schemas.openxmlformats.org/officeDocument/2006/relationships/font" Target="fonts/Inter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Inter-boldItalic.fntdata"/><Relationship Id="rId6" Type="http://schemas.openxmlformats.org/officeDocument/2006/relationships/slide" Target="slides/slide1.xml"/><Relationship Id="rId18" Type="http://schemas.openxmlformats.org/officeDocument/2006/relationships/font" Target="fonts/Inter-italic.fntdata"/><Relationship Id="rId7" Type="http://schemas.openxmlformats.org/officeDocument/2006/relationships/slide" Target="slides/slide2.xml"/><Relationship Id="rId8" Type="http://schemas.openxmlformats.org/officeDocument/2006/relationships/font" Target="fonts/InterSemiBold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4.png"/><Relationship Id="rId6" Type="http://schemas.openxmlformats.org/officeDocument/2006/relationships/image" Target="../media/image3.png"/><Relationship Id="rId7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1525" y="6303287"/>
            <a:ext cx="10648949" cy="390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1613214"/>
            <a:ext cx="10648949" cy="1760041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1000125" y="771525"/>
            <a:ext cx="10941367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64E3B"/>
                </a:solidFill>
                <a:latin typeface="Poppins"/>
                <a:ea typeface="Poppins"/>
                <a:cs typeface="Poppins"/>
                <a:sym typeface="Poppins"/>
              </a:rPr>
              <a:t>DESAFIO: CLÍNICA PETVIDA</a:t>
            </a:r>
            <a:endParaRPr/>
          </a:p>
        </p:txBody>
      </p:sp>
      <p:sp>
        <p:nvSpPr>
          <p:cNvPr id="87" name="Google Shape;87;p13"/>
          <p:cNvSpPr/>
          <p:nvPr/>
        </p:nvSpPr>
        <p:spPr>
          <a:xfrm>
            <a:off x="771525" y="771525"/>
            <a:ext cx="95250" cy="61912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771525" y="3598529"/>
            <a:ext cx="10649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Requisitos do Cliente: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771525" y="6503312"/>
            <a:ext cx="2238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Exercício de Modelagem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9709850" y="6503312"/>
            <a:ext cx="1710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Profª Juliana de Sá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1133475" y="2127564"/>
            <a:ext cx="10001400" cy="7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Cenário:</a:t>
            </a:r>
            <a:r>
              <a:rPr b="0" i="0" lang="en-US" sz="18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A Clínica PetVida precisa de um sistema para organizar seus atendimentos. Atualmente, eles perdem muito tempo procurando fichas de papel e históricos médicos.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857250" y="3966105"/>
            <a:ext cx="285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🐾</a:t>
            </a:r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1143000" y="3964200"/>
            <a:ext cx="10268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8575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Precisamos cadastrar o </a:t>
            </a:r>
            <a:r>
              <a:rPr b="1" i="0" lang="en-US" sz="18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Dono</a:t>
            </a:r>
            <a:r>
              <a:rPr b="0" i="0" lang="en-US" sz="18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(Nome, CPF e Telefone).</a:t>
            </a:r>
            <a:endParaRPr/>
          </a:p>
        </p:txBody>
      </p:sp>
      <p:sp>
        <p:nvSpPr>
          <p:cNvPr id="94" name="Google Shape;94;p13"/>
          <p:cNvSpPr txBox="1"/>
          <p:nvPr/>
        </p:nvSpPr>
        <p:spPr>
          <a:xfrm>
            <a:off x="857250" y="4474650"/>
            <a:ext cx="285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🐾</a:t>
            </a:r>
            <a:endParaRPr/>
          </a:p>
        </p:txBody>
      </p:sp>
      <p:sp>
        <p:nvSpPr>
          <p:cNvPr id="95" name="Google Shape;95;p13"/>
          <p:cNvSpPr txBox="1"/>
          <p:nvPr/>
        </p:nvSpPr>
        <p:spPr>
          <a:xfrm>
            <a:off x="1143000" y="4472745"/>
            <a:ext cx="10268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8575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Cada Dono pode ter vários </a:t>
            </a:r>
            <a:r>
              <a:rPr b="1" i="0" lang="en-US" sz="18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Pets</a:t>
            </a:r>
            <a:r>
              <a:rPr b="0" i="0" lang="en-US" sz="18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(Nome, Espécie e Idade).</a:t>
            </a:r>
            <a:endParaRPr/>
          </a:p>
        </p:txBody>
      </p:sp>
      <p:sp>
        <p:nvSpPr>
          <p:cNvPr id="96" name="Google Shape;96;p13"/>
          <p:cNvSpPr txBox="1"/>
          <p:nvPr/>
        </p:nvSpPr>
        <p:spPr>
          <a:xfrm>
            <a:off x="857250" y="4983196"/>
            <a:ext cx="285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🐾</a:t>
            </a:r>
            <a:endParaRPr/>
          </a:p>
        </p:txBody>
      </p:sp>
      <p:sp>
        <p:nvSpPr>
          <p:cNvPr id="97" name="Google Shape;97;p13"/>
          <p:cNvSpPr txBox="1"/>
          <p:nvPr/>
        </p:nvSpPr>
        <p:spPr>
          <a:xfrm>
            <a:off x="1143000" y="4981291"/>
            <a:ext cx="10268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8575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Os Pets são atendidos por </a:t>
            </a:r>
            <a:r>
              <a:rPr b="1" i="0" lang="en-US" sz="18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Veterinários</a:t>
            </a:r>
            <a:r>
              <a:rPr b="0" i="0" lang="en-US" sz="18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(Nome e CRMV).</a:t>
            </a:r>
            <a:endParaRPr/>
          </a:p>
        </p:txBody>
      </p:sp>
      <p:sp>
        <p:nvSpPr>
          <p:cNvPr id="98" name="Google Shape;98;p13"/>
          <p:cNvSpPr txBox="1"/>
          <p:nvPr/>
        </p:nvSpPr>
        <p:spPr>
          <a:xfrm>
            <a:off x="857250" y="5491742"/>
            <a:ext cx="285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🐾</a:t>
            </a:r>
            <a:endParaRPr/>
          </a:p>
        </p:txBody>
      </p:sp>
      <p:sp>
        <p:nvSpPr>
          <p:cNvPr id="99" name="Google Shape;99;p13"/>
          <p:cNvSpPr txBox="1"/>
          <p:nvPr/>
        </p:nvSpPr>
        <p:spPr>
          <a:xfrm>
            <a:off x="1143000" y="5489837"/>
            <a:ext cx="10268100" cy="7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8575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Um Veterinário pode atender muitos Pets, e um Pet pode passar por vários Veterinários ao longo do tempo.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4" name="Google Shape;10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1525" y="6076950"/>
            <a:ext cx="10648950" cy="390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5" name="Google Shape;10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2746920"/>
            <a:ext cx="5038725" cy="2590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6" name="Google Shape;106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2746926"/>
            <a:ext cx="5038725" cy="25908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1000125" y="771525"/>
            <a:ext cx="10941367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64E3B"/>
                </a:solidFill>
                <a:latin typeface="Poppins"/>
                <a:ea typeface="Poppins"/>
                <a:cs typeface="Poppins"/>
                <a:sym typeface="Poppins"/>
              </a:rPr>
              <a:t>SUA MISSÃO: O MODELO DER</a:t>
            </a:r>
            <a:endParaRPr/>
          </a:p>
        </p:txBody>
      </p:sp>
      <p:sp>
        <p:nvSpPr>
          <p:cNvPr id="108" name="Google Shape;108;p14"/>
          <p:cNvSpPr/>
          <p:nvPr/>
        </p:nvSpPr>
        <p:spPr>
          <a:xfrm>
            <a:off x="771525" y="771525"/>
            <a:ext cx="95250" cy="61912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4"/>
          <p:cNvSpPr txBox="1"/>
          <p:nvPr/>
        </p:nvSpPr>
        <p:spPr>
          <a:xfrm>
            <a:off x="771525" y="2000250"/>
            <a:ext cx="1064895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Utilizando os conceitos de </a:t>
            </a:r>
            <a:r>
              <a:rPr b="1" i="0" lang="en-US" sz="18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Modelo Conceitual</a:t>
            </a:r>
            <a:r>
              <a:rPr b="0" i="0" lang="en-US" sz="18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, construa o diagrama (DER) contendo: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771525" y="6276975"/>
            <a:ext cx="14001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Laboratório Prático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10144125" y="6276975"/>
            <a:ext cx="12763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Banco de Dados I</a:t>
            </a:r>
            <a:endParaRPr/>
          </a:p>
        </p:txBody>
      </p:sp>
      <p:sp>
        <p:nvSpPr>
          <p:cNvPr id="112" name="Google Shape;112;p14"/>
          <p:cNvSpPr txBox="1"/>
          <p:nvPr/>
        </p:nvSpPr>
        <p:spPr>
          <a:xfrm>
            <a:off x="771525" y="5528597"/>
            <a:ext cx="10649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Dica: O "Atendimento" pode ser um relacionamento ou uma entidade?</a:t>
            </a:r>
            <a:endParaRPr/>
          </a:p>
        </p:txBody>
      </p:sp>
      <p:pic>
        <p:nvPicPr>
          <p:cNvPr descr="image.png" id="113" name="Google Shape;113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66800" y="3042195"/>
            <a:ext cx="2857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4"/>
          <p:cNvSpPr txBox="1"/>
          <p:nvPr/>
        </p:nvSpPr>
        <p:spPr>
          <a:xfrm>
            <a:off x="1066800" y="3470820"/>
            <a:ext cx="4670583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Entidades e Atributos</a:t>
            </a:r>
            <a:endParaRPr/>
          </a:p>
        </p:txBody>
      </p:sp>
      <p:sp>
        <p:nvSpPr>
          <p:cNvPr id="115" name="Google Shape;115;p14"/>
          <p:cNvSpPr txBox="1"/>
          <p:nvPr/>
        </p:nvSpPr>
        <p:spPr>
          <a:xfrm>
            <a:off x="1066800" y="3937545"/>
            <a:ext cx="44481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Identifique os substantivos e as características de cada um. Não esqueça de sublinhar o </a:t>
            </a:r>
            <a:r>
              <a:rPr b="1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Atributo Identificador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pic>
        <p:nvPicPr>
          <p:cNvPr descr="image.png" id="116" name="Google Shape;116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677025" y="3042195"/>
            <a:ext cx="3238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4"/>
          <p:cNvSpPr txBox="1"/>
          <p:nvPr/>
        </p:nvSpPr>
        <p:spPr>
          <a:xfrm>
            <a:off x="6677025" y="3470820"/>
            <a:ext cx="4670583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Relacionamentos</a:t>
            </a:r>
            <a:endParaRPr/>
          </a:p>
        </p:txBody>
      </p:sp>
      <p:sp>
        <p:nvSpPr>
          <p:cNvPr id="118" name="Google Shape;118;p14"/>
          <p:cNvSpPr txBox="1"/>
          <p:nvPr/>
        </p:nvSpPr>
        <p:spPr>
          <a:xfrm>
            <a:off x="6677025" y="3937545"/>
            <a:ext cx="44481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Defina como as entidades se conectam e identifique as </a:t>
            </a:r>
            <a:r>
              <a:rPr b="1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Cardinalidades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(1:1, 1:N ou N:N).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