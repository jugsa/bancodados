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Poppins" panose="020B0604020202020204" charset="0"/>
      <p:regular r:id="rId12"/>
      <p:bold r:id="rId13"/>
      <p:italic r:id="rId14"/>
      <p:boldItalic r:id="rId15"/>
    </p:embeddedFont>
    <p:embeddedFont>
      <p:font typeface="Inter SemiBold" panose="020B0604020202020204" charset="0"/>
      <p:regular r:id="rId16"/>
      <p:bold r:id="rId17"/>
      <p:italic r:id="rId18"/>
      <p:boldItalic r:id="rId19"/>
    </p:embeddedFont>
    <p:embeddedFont>
      <p:font typeface="Inter" panose="020B0604020202020204" charset="0"/>
      <p:regular r:id="rId20"/>
      <p:bold r:id="rId21"/>
      <p:italic r:id="rId22"/>
      <p:boldItalic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DDCFFF5-A85E-4034-B89C-E9EE90BB51C2}">
  <a:tblStyle styleId="{0DDCFFF5-A85E-4034-B89C-E9EE90BB51C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5" name="Google Shape;19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76900" y="1866900"/>
            <a:ext cx="8382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210514" y="3105150"/>
            <a:ext cx="777097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Modelo Lógico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395537" y="3752850"/>
            <a:ext cx="74009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Estruturando o Banco de Dados para o Mundo Real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395537" y="4533900"/>
            <a:ext cx="74009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Banco de Dados I | Profª Juliana de Sá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71725"/>
            <a:ext cx="3486150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371725"/>
            <a:ext cx="3486150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371725"/>
            <a:ext cx="3486150" cy="31813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853916" y="3476625"/>
            <a:ext cx="294036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Organização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23925" y="4076700"/>
            <a:ext cx="280035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É a representação das tabelas, colunas e tipos de dados que serão usados.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4625816" y="3476625"/>
            <a:ext cx="294036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Relacionamento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4695825" y="4076700"/>
            <a:ext cx="280035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Define como uma tabela se conecta a outra através de chaves.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397716" y="3476625"/>
            <a:ext cx="294036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Implementação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467725" y="4076700"/>
            <a:ext cx="280035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É o passo final antes de escrevermos o código SQL de verdade.</a:t>
            </a:r>
            <a:endParaRPr/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57400" y="2752725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95962" y="2752725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29775" y="27527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819150" y="581025"/>
            <a:ext cx="11331416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O que é o Modelo Lógico?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81025" y="581025"/>
            <a:ext cx="95250" cy="685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581025" y="1645438"/>
            <a:ext cx="5540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A Mudança de Foco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81025" y="2245513"/>
            <a:ext cx="52770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 </a:t>
            </a:r>
            <a:r>
              <a:rPr lang="en-US" sz="16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Conceitual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falávamos com o cliente (negócio).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81025" y="2750338"/>
            <a:ext cx="5277000" cy="6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 </a:t>
            </a:r>
            <a:r>
              <a:rPr lang="en-US" sz="16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Lógico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falamos com o Sistema Gerenciador de Banco de Dados (SGBD).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581025" y="3569488"/>
            <a:ext cx="52770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Entidade vira Tabela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581025" y="3883813"/>
            <a:ext cx="52770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Atributo vira Coluna</a:t>
            </a:r>
            <a:endParaRPr/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8163" y="3569512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8163" y="3883837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819150" y="581025"/>
            <a:ext cx="11331416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Conceitual vs. Lógico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581025" y="581025"/>
            <a:ext cx="95250" cy="685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42725" y="3149775"/>
            <a:ext cx="8361600" cy="32780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933700"/>
            <a:ext cx="5372100" cy="2429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933700"/>
            <a:ext cx="5372100" cy="242960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923925" y="3276600"/>
            <a:ext cx="492061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BBF24"/>
                </a:solidFill>
                <a:latin typeface="Poppins"/>
                <a:ea typeface="Poppins"/>
                <a:cs typeface="Poppins"/>
                <a:sym typeface="Poppins"/>
              </a:rPr>
              <a:t>Chave Primária (PK)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923925" y="3876675"/>
            <a:ext cx="4686300" cy="1142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É o </a:t>
            </a:r>
            <a:r>
              <a:rPr lang="en-US" sz="1650" dirty="0" smtClean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CPF, </a:t>
            </a:r>
            <a:r>
              <a:rPr lang="en-US" sz="1650" dirty="0" err="1" smtClean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código</a:t>
            </a:r>
            <a:r>
              <a:rPr lang="en-US" sz="1650" dirty="0" smtClean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dirty="0" err="1" smtClean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ou</a:t>
            </a:r>
            <a:r>
              <a:rPr lang="en-US" sz="1650" dirty="0" smtClean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ID</a:t>
            </a:r>
            <a:r>
              <a:rPr lang="en-US" sz="1650" b="0" i="0" u="none" strike="noStrike" cap="none" dirty="0" smtClean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tabela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 Um valor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único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que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identifica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cada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linha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registro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)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sem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erro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32" name="Google Shape;132;p16"/>
          <p:cNvSpPr txBox="1"/>
          <p:nvPr/>
        </p:nvSpPr>
        <p:spPr>
          <a:xfrm>
            <a:off x="6581775" y="3276600"/>
            <a:ext cx="492061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Chave Estrangeira (FK)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581775" y="3876675"/>
            <a:ext cx="46863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É a chave que cria a conexão. Ela aponta para a Chave Primária de outra tabela.</a:t>
            </a:r>
            <a:endParaRPr/>
          </a:p>
        </p:txBody>
      </p:sp>
      <p:pic>
        <p:nvPicPr>
          <p:cNvPr id="134" name="Google Shape;13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5739" y="3309767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03589" y="3298597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819150" y="581025"/>
            <a:ext cx="11331416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As Chaves do Sucesso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581025" y="581025"/>
            <a:ext cx="95250" cy="685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581025" y="2928937"/>
            <a:ext cx="527685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1:N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581025" y="4452937"/>
            <a:ext cx="52768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A Chave viaja!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334125" y="2590800"/>
            <a:ext cx="554069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Onde colocar a conexão?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6334125" y="3190875"/>
            <a:ext cx="52768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Em um relacionamento 1:N, a </a:t>
            </a:r>
            <a:r>
              <a:rPr lang="en-US" sz="16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Chave Primária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do lado "1" vai para o lado "N" como </a:t>
            </a:r>
            <a:r>
              <a:rPr lang="en-US" sz="16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Chave Estrangeira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id="147" name="Google Shape;14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962400"/>
            <a:ext cx="5276850" cy="122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819150" y="581025"/>
            <a:ext cx="11331416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Regra de Ouro: 1 para N</a:t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581025" y="581025"/>
            <a:ext cx="95250" cy="685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4800275" y="1494662"/>
            <a:ext cx="7080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A Tabela Associativa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4800275" y="2028837"/>
            <a:ext cx="6743700" cy="6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Bancos de dados relacionais não aceitam N:N direto. Precisamos de uma </a:t>
            </a:r>
            <a:r>
              <a:rPr lang="en-US" sz="16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tabela do meio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4800275" y="2800362"/>
            <a:ext cx="6743700" cy="6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Esta nova tabela conterá as Chaves Estrangeiras das duas tabelas originais, servindo como uma ponte.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819150" y="581025"/>
            <a:ext cx="11331416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O Desafio do N para N</a:t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581025" y="581025"/>
            <a:ext cx="95250" cy="685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32288" y="3948438"/>
            <a:ext cx="8239125" cy="220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/>
          <p:nvPr/>
        </p:nvSpPr>
        <p:spPr>
          <a:xfrm>
            <a:off x="581025" y="2209800"/>
            <a:ext cx="11029950" cy="3505200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7" name="Google Shape;167;p19"/>
          <p:cNvGraphicFramePr/>
          <p:nvPr/>
        </p:nvGraphicFramePr>
        <p:xfrm>
          <a:off x="581025" y="2209800"/>
          <a:ext cx="11029925" cy="3505250"/>
        </p:xfrm>
        <a:graphic>
          <a:graphicData uri="http://schemas.openxmlformats.org/drawingml/2006/table">
            <a:tbl>
              <a:tblPr firstRow="1" bandRow="1">
                <a:noFill/>
                <a:tableStyleId>{0DDCFFF5-A85E-4034-B89C-E9EE90BB51C2}</a:tableStyleId>
              </a:tblPr>
              <a:tblGrid>
                <a:gridCol w="2618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2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1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Tipo Lógico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Tipo SQL Comum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 que armazena?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A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Inteiro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INT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Números inteiros (IDs, Idades)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Texto Longo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VARCHAR(N)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Nomes, Emails, Endereços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Decimal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DECIMAL / FLOAT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Preços, Pesos, Medidas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Data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DATE / DATETIME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Inter"/>
                          <a:ea typeface="Inter"/>
                          <a:cs typeface="Inter"/>
                          <a:sym typeface="Inter"/>
                        </a:rPr>
                        <a:t>Nascimentos, Datas de Venda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8" name="Google Shape;168;p19"/>
          <p:cNvSpPr/>
          <p:nvPr/>
        </p:nvSpPr>
        <p:spPr>
          <a:xfrm>
            <a:off x="581025" y="2843212"/>
            <a:ext cx="261818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3199209" y="2843212"/>
            <a:ext cx="308476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6283969" y="2843212"/>
            <a:ext cx="532700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581025" y="3557587"/>
            <a:ext cx="261818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3199209" y="3557587"/>
            <a:ext cx="308476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6283969" y="3557587"/>
            <a:ext cx="532700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581025" y="4271962"/>
            <a:ext cx="261818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3199209" y="4271962"/>
            <a:ext cx="308476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6283969" y="4271962"/>
            <a:ext cx="532700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581025" y="4986337"/>
            <a:ext cx="261818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3199209" y="4986337"/>
            <a:ext cx="308476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6283969" y="4986337"/>
            <a:ext cx="532700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581025" y="5700712"/>
            <a:ext cx="261818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3199209" y="5700712"/>
            <a:ext cx="308476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6283969" y="5700712"/>
            <a:ext cx="532700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819150" y="581025"/>
            <a:ext cx="11331416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Tipos de Dados (SQL)</a:t>
            </a: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581025" y="581025"/>
            <a:ext cx="95250" cy="685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/>
          <p:nvPr/>
        </p:nvSpPr>
        <p:spPr>
          <a:xfrm>
            <a:off x="5619750" y="2347912"/>
            <a:ext cx="952500" cy="7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305276" y="2709862"/>
            <a:ext cx="1158144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Hora da Prática!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581025" y="4043362"/>
            <a:ext cx="110299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Vamos converter o exercício do Marketplace para o Modelo Lógico?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1"/>
          <p:cNvSpPr txBox="1"/>
          <p:nvPr/>
        </p:nvSpPr>
        <p:spPr>
          <a:xfrm>
            <a:off x="305276" y="1795462"/>
            <a:ext cx="11581447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Dúvidas?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581025" y="3090862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estrutura lógica garante a integridade dos seus dados.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581025" y="4148137"/>
            <a:ext cx="110299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Profª Juliana de Sá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581025" y="4605337"/>
            <a:ext cx="11029950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smtClean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Banco 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 Dados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332</Words>
  <Application>Microsoft Office PowerPoint</Application>
  <PresentationFormat>Widescreen</PresentationFormat>
  <Paragraphs>52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Poppins</vt:lpstr>
      <vt:lpstr>Inter SemiBold</vt:lpstr>
      <vt:lpstr>Inter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Prof. Juliana de Sá</cp:lastModifiedBy>
  <cp:revision>1</cp:revision>
  <dcterms:modified xsi:type="dcterms:W3CDTF">2026-04-22T23:18:49Z</dcterms:modified>
</cp:coreProperties>
</file>