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y="6858000" cx="12192000"/>
  <p:notesSz cx="6858000" cy="9144000"/>
  <p:embeddedFontLst>
    <p:embeddedFont>
      <p:font typeface="Inter SemiBold"/>
      <p:regular r:id="rId21"/>
      <p:bold r:id="rId22"/>
      <p:italic r:id="rId23"/>
      <p:boldItalic r:id="rId24"/>
    </p:embeddedFont>
    <p:embeddedFont>
      <p:font typeface="Inter Light"/>
      <p:regular r:id="rId25"/>
      <p:bold r:id="rId26"/>
      <p:italic r:id="rId27"/>
      <p:boldItalic r:id="rId28"/>
    </p:embeddedFont>
    <p:embeddedFont>
      <p:font typeface="Poppins"/>
      <p:regular r:id="rId29"/>
      <p:bold r:id="rId30"/>
      <p:italic r:id="rId31"/>
      <p:boldItalic r:id="rId32"/>
    </p:embeddedFont>
    <p:embeddedFont>
      <p:font typeface="Inter"/>
      <p:regular r:id="rId33"/>
      <p:bold r:id="rId34"/>
      <p:italic r:id="rId35"/>
      <p:boldItalic r:id="rId36"/>
    </p:embeddedFont>
    <p:embeddedFont>
      <p:font typeface="Montserrat"/>
      <p:regular r:id="rId37"/>
      <p:bold r:id="rId38"/>
      <p:italic r:id="rId39"/>
      <p:boldItalic r:id="rId40"/>
    </p:embeddedFont>
    <p:embeddedFont>
      <p:font typeface="Inter Medium"/>
      <p:regular r:id="rId41"/>
      <p:bold r:id="rId42"/>
      <p:italic r:id="rId43"/>
      <p:boldItalic r:id="rId4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0029D3DC-28B8-4A2A-94BC-9923F34E900A}">
  <a:tblStyle styleId="{0029D3DC-28B8-4A2A-94BC-9923F34E900A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Montserrat-boldItalic.fntdata"/><Relationship Id="rId20" Type="http://schemas.openxmlformats.org/officeDocument/2006/relationships/slide" Target="slides/slide14.xml"/><Relationship Id="rId42" Type="http://schemas.openxmlformats.org/officeDocument/2006/relationships/font" Target="fonts/InterMedium-bold.fntdata"/><Relationship Id="rId41" Type="http://schemas.openxmlformats.org/officeDocument/2006/relationships/font" Target="fonts/InterMedium-regular.fntdata"/><Relationship Id="rId22" Type="http://schemas.openxmlformats.org/officeDocument/2006/relationships/font" Target="fonts/InterSemiBold-bold.fntdata"/><Relationship Id="rId44" Type="http://schemas.openxmlformats.org/officeDocument/2006/relationships/font" Target="fonts/InterMedium-boldItalic.fntdata"/><Relationship Id="rId21" Type="http://schemas.openxmlformats.org/officeDocument/2006/relationships/font" Target="fonts/InterSemiBold-regular.fntdata"/><Relationship Id="rId43" Type="http://schemas.openxmlformats.org/officeDocument/2006/relationships/font" Target="fonts/InterMedium-italic.fntdata"/><Relationship Id="rId24" Type="http://schemas.openxmlformats.org/officeDocument/2006/relationships/font" Target="fonts/InterSemiBold-boldItalic.fntdata"/><Relationship Id="rId23" Type="http://schemas.openxmlformats.org/officeDocument/2006/relationships/font" Target="fonts/InterSemiBold-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InterLight-bold.fntdata"/><Relationship Id="rId25" Type="http://schemas.openxmlformats.org/officeDocument/2006/relationships/font" Target="fonts/InterLight-regular.fntdata"/><Relationship Id="rId28" Type="http://schemas.openxmlformats.org/officeDocument/2006/relationships/font" Target="fonts/InterLight-boldItalic.fntdata"/><Relationship Id="rId27" Type="http://schemas.openxmlformats.org/officeDocument/2006/relationships/font" Target="fonts/InterLight-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Poppins-regular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Poppins-italic.fntdata"/><Relationship Id="rId30" Type="http://schemas.openxmlformats.org/officeDocument/2006/relationships/font" Target="fonts/Poppins-bold.fntdata"/><Relationship Id="rId11" Type="http://schemas.openxmlformats.org/officeDocument/2006/relationships/slide" Target="slides/slide5.xml"/><Relationship Id="rId33" Type="http://schemas.openxmlformats.org/officeDocument/2006/relationships/font" Target="fonts/Inter-regular.fntdata"/><Relationship Id="rId10" Type="http://schemas.openxmlformats.org/officeDocument/2006/relationships/slide" Target="slides/slide4.xml"/><Relationship Id="rId32" Type="http://schemas.openxmlformats.org/officeDocument/2006/relationships/font" Target="fonts/Poppins-boldItalic.fntdata"/><Relationship Id="rId13" Type="http://schemas.openxmlformats.org/officeDocument/2006/relationships/slide" Target="slides/slide7.xml"/><Relationship Id="rId35" Type="http://schemas.openxmlformats.org/officeDocument/2006/relationships/font" Target="fonts/Inter-italic.fntdata"/><Relationship Id="rId12" Type="http://schemas.openxmlformats.org/officeDocument/2006/relationships/slide" Target="slides/slide6.xml"/><Relationship Id="rId34" Type="http://schemas.openxmlformats.org/officeDocument/2006/relationships/font" Target="fonts/Inter-bold.fntdata"/><Relationship Id="rId15" Type="http://schemas.openxmlformats.org/officeDocument/2006/relationships/slide" Target="slides/slide9.xml"/><Relationship Id="rId37" Type="http://schemas.openxmlformats.org/officeDocument/2006/relationships/font" Target="fonts/Montserrat-regular.fntdata"/><Relationship Id="rId14" Type="http://schemas.openxmlformats.org/officeDocument/2006/relationships/slide" Target="slides/slide8.xml"/><Relationship Id="rId36" Type="http://schemas.openxmlformats.org/officeDocument/2006/relationships/font" Target="fonts/Inter-boldItalic.fntdata"/><Relationship Id="rId17" Type="http://schemas.openxmlformats.org/officeDocument/2006/relationships/slide" Target="slides/slide11.xml"/><Relationship Id="rId39" Type="http://schemas.openxmlformats.org/officeDocument/2006/relationships/font" Target="fonts/Montserrat-italic.fntdata"/><Relationship Id="rId16" Type="http://schemas.openxmlformats.org/officeDocument/2006/relationships/slide" Target="slides/slide10.xml"/><Relationship Id="rId38" Type="http://schemas.openxmlformats.org/officeDocument/2006/relationships/font" Target="fonts/Montserrat-bold.fntdata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c69b8ca06f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g3c69b8ca06f_0_2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c69b8ca06f_0_1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c69b8ca06f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8.png"/><Relationship Id="rId4" Type="http://schemas.openxmlformats.org/officeDocument/2006/relationships/image" Target="../media/image12.png"/><Relationship Id="rId5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10.png"/><Relationship Id="rId5" Type="http://schemas.openxmlformats.org/officeDocument/2006/relationships/image" Target="../media/image13.png"/><Relationship Id="rId6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Relationship Id="rId4" Type="http://schemas.openxmlformats.org/officeDocument/2006/relationships/image" Target="../media/image16.png"/><Relationship Id="rId10" Type="http://schemas.openxmlformats.org/officeDocument/2006/relationships/image" Target="../media/image1.png"/><Relationship Id="rId9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9.png"/><Relationship Id="rId7" Type="http://schemas.openxmlformats.org/officeDocument/2006/relationships/image" Target="../media/image4.png"/><Relationship Id="rId8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Relationship Id="rId4" Type="http://schemas.openxmlformats.org/officeDocument/2006/relationships/image" Target="../media/image15.png"/><Relationship Id="rId5" Type="http://schemas.openxmlformats.org/officeDocument/2006/relationships/image" Target="../media/image11.png"/><Relationship Id="rId6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Relationship Id="rId4" Type="http://schemas.openxmlformats.org/officeDocument/2006/relationships/image" Target="../media/image15.png"/><Relationship Id="rId5" Type="http://schemas.openxmlformats.org/officeDocument/2006/relationships/image" Target="../media/image21.png"/><Relationship Id="rId6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Relationship Id="rId4" Type="http://schemas.openxmlformats.org/officeDocument/2006/relationships/image" Target="../media/image26.png"/><Relationship Id="rId5" Type="http://schemas.openxmlformats.org/officeDocument/2006/relationships/image" Target="../media/image28.png"/><Relationship Id="rId6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Relationship Id="rId4" Type="http://schemas.openxmlformats.org/officeDocument/2006/relationships/image" Target="../media/image19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Relationship Id="rId4" Type="http://schemas.openxmlformats.org/officeDocument/2006/relationships/image" Target="../media/image25.png"/><Relationship Id="rId10" Type="http://schemas.openxmlformats.org/officeDocument/2006/relationships/image" Target="../media/image1.png"/><Relationship Id="rId9" Type="http://schemas.openxmlformats.org/officeDocument/2006/relationships/image" Target="../media/image27.png"/><Relationship Id="rId5" Type="http://schemas.openxmlformats.org/officeDocument/2006/relationships/image" Target="../media/image8.png"/><Relationship Id="rId6" Type="http://schemas.openxmlformats.org/officeDocument/2006/relationships/image" Target="../media/image9.png"/><Relationship Id="rId7" Type="http://schemas.openxmlformats.org/officeDocument/2006/relationships/image" Target="../media/image17.png"/><Relationship Id="rId8" Type="http://schemas.openxmlformats.org/officeDocument/2006/relationships/image" Target="../media/image2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png"/><Relationship Id="rId4" Type="http://schemas.openxmlformats.org/officeDocument/2006/relationships/image" Target="../media/image23.png"/><Relationship Id="rId5" Type="http://schemas.openxmlformats.org/officeDocument/2006/relationships/image" Target="../media/image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4995862" y="1922115"/>
            <a:ext cx="220027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0EA5E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PLANO DE CURSO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2640568" y="2398365"/>
            <a:ext cx="6910863" cy="8800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300" u="none" cap="none" strike="noStrik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Banco de Dados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3981450" y="3564135"/>
            <a:ext cx="42291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0EA5E9"/>
                </a:solidFill>
                <a:latin typeface="Inter Light"/>
                <a:ea typeface="Inter Light"/>
                <a:cs typeface="Inter Light"/>
                <a:sym typeface="Inter Light"/>
              </a:rPr>
              <a:t>Modelagem e Implementação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3981450" y="4718425"/>
            <a:ext cx="44949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00" u="none" cap="none" strike="noStrike">
                <a:solidFill>
                  <a:srgbClr val="94A3B8"/>
                </a:solidFill>
                <a:latin typeface="Inter Medium"/>
                <a:ea typeface="Inter Medium"/>
                <a:cs typeface="Inter Medium"/>
                <a:sym typeface="Inter Medium"/>
              </a:rPr>
              <a:t>Profª Juliana de Sá</a:t>
            </a:r>
            <a:endParaRPr b="0" i="0" sz="2700" u="none" cap="none" strike="noStrike">
              <a:solidFill>
                <a:srgbClr val="94A3B8"/>
              </a:solidFill>
              <a:latin typeface="Inter Medium"/>
              <a:ea typeface="Inter Medium"/>
              <a:cs typeface="Inter Medium"/>
              <a:sym typeface="Inter Medium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94A3B8"/>
                </a:solidFill>
                <a:latin typeface="Inter Medium"/>
                <a:ea typeface="Inter Medium"/>
                <a:cs typeface="Inter Medium"/>
                <a:sym typeface="Inter Medium"/>
              </a:rPr>
              <a:t>juliana.sa@etec.sp.gov.br</a:t>
            </a:r>
            <a:endParaRPr sz="1700">
              <a:solidFill>
                <a:srgbClr val="94A3B8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89" name="Google Shape;89;p13"/>
          <p:cNvSpPr txBox="1"/>
          <p:nvPr/>
        </p:nvSpPr>
        <p:spPr>
          <a:xfrm>
            <a:off x="10830200" y="3225300"/>
            <a:ext cx="13806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0" name="Google Shape;90;p13"/>
          <p:cNvPicPr preferRelativeResize="0"/>
          <p:nvPr/>
        </p:nvPicPr>
        <p:blipFill rotWithShape="1">
          <a:blip r:embed="rId4">
            <a:alphaModFix/>
          </a:blip>
          <a:srcRect b="26148" l="0" r="66422" t="7319"/>
          <a:stretch/>
        </p:blipFill>
        <p:spPr>
          <a:xfrm>
            <a:off x="11105350" y="169750"/>
            <a:ext cx="897649" cy="520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5" name="Google Shape;95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4"/>
          <p:cNvSpPr txBox="1"/>
          <p:nvPr/>
        </p:nvSpPr>
        <p:spPr>
          <a:xfrm>
            <a:off x="899688" y="2241439"/>
            <a:ext cx="1905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EA5E9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/>
          </a:p>
        </p:txBody>
      </p:sp>
      <p:sp>
        <p:nvSpPr>
          <p:cNvPr id="97" name="Google Shape;97;p14"/>
          <p:cNvSpPr txBox="1"/>
          <p:nvPr/>
        </p:nvSpPr>
        <p:spPr>
          <a:xfrm>
            <a:off x="911005" y="3428292"/>
            <a:ext cx="1905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EA5E9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/>
          </a:p>
        </p:txBody>
      </p:sp>
      <p:sp>
        <p:nvSpPr>
          <p:cNvPr id="98" name="Google Shape;98;p14"/>
          <p:cNvSpPr txBox="1"/>
          <p:nvPr/>
        </p:nvSpPr>
        <p:spPr>
          <a:xfrm>
            <a:off x="888371" y="4875432"/>
            <a:ext cx="1905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EA5E9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800100" y="571500"/>
            <a:ext cx="113613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300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APRESENTAÇÃO DO PROFESSOR</a:t>
            </a:r>
            <a:endParaRPr/>
          </a:p>
        </p:txBody>
      </p:sp>
      <p:sp>
        <p:nvSpPr>
          <p:cNvPr id="100" name="Google Shape;100;p14"/>
          <p:cNvSpPr/>
          <p:nvPr/>
        </p:nvSpPr>
        <p:spPr>
          <a:xfrm>
            <a:off x="571500" y="571500"/>
            <a:ext cx="76200" cy="6192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1" name="Google Shape;101;p14"/>
          <p:cNvPicPr preferRelativeResize="0"/>
          <p:nvPr/>
        </p:nvPicPr>
        <p:blipFill rotWithShape="1">
          <a:blip r:embed="rId4">
            <a:alphaModFix/>
          </a:blip>
          <a:srcRect b="26148" l="0" r="66422" t="7319"/>
          <a:stretch/>
        </p:blipFill>
        <p:spPr>
          <a:xfrm>
            <a:off x="11105350" y="169750"/>
            <a:ext cx="897649" cy="520575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4"/>
          <p:cNvSpPr txBox="1"/>
          <p:nvPr/>
        </p:nvSpPr>
        <p:spPr>
          <a:xfrm>
            <a:off x="1147725" y="2246941"/>
            <a:ext cx="101919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Graduação</a:t>
            </a:r>
            <a:endParaRPr sz="1500">
              <a:solidFill>
                <a:srgbClr val="CBD5E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2385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500"/>
              <a:buFont typeface="Inter"/>
              <a:buChar char="-"/>
            </a:pPr>
            <a:r>
              <a:rPr lang="en-US" sz="150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Ciência da Computação</a:t>
            </a:r>
            <a:endParaRPr sz="1500">
              <a:solidFill>
                <a:srgbClr val="CBD5E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2385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500"/>
              <a:buFont typeface="Inter"/>
              <a:buChar char="-"/>
            </a:pPr>
            <a:r>
              <a:rPr lang="en-US" sz="150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Pedagogia</a:t>
            </a:r>
            <a:endParaRPr sz="1650">
              <a:solidFill>
                <a:srgbClr val="8892B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3" name="Google Shape;103;p14"/>
          <p:cNvSpPr txBox="1"/>
          <p:nvPr/>
        </p:nvSpPr>
        <p:spPr>
          <a:xfrm>
            <a:off x="1147725" y="3436739"/>
            <a:ext cx="101919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Pós-graduação:</a:t>
            </a:r>
            <a:endParaRPr sz="1500">
              <a:solidFill>
                <a:srgbClr val="CBD5E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2385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500"/>
              <a:buFont typeface="Inter"/>
              <a:buChar char="-"/>
            </a:pPr>
            <a:r>
              <a:rPr lang="en-US" sz="150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Ética, Valores e Saúde na Educação</a:t>
            </a:r>
            <a:endParaRPr sz="1500">
              <a:solidFill>
                <a:srgbClr val="CBD5E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2385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500"/>
              <a:buFont typeface="Inter"/>
              <a:buChar char="-"/>
            </a:pPr>
            <a:r>
              <a:rPr lang="en-US" sz="150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BIG Data</a:t>
            </a:r>
            <a:endParaRPr/>
          </a:p>
        </p:txBody>
      </p:sp>
      <p:sp>
        <p:nvSpPr>
          <p:cNvPr id="104" name="Google Shape;104;p14"/>
          <p:cNvSpPr txBox="1"/>
          <p:nvPr/>
        </p:nvSpPr>
        <p:spPr>
          <a:xfrm>
            <a:off x="1147725" y="4870350"/>
            <a:ext cx="101919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2006 - ETEC de Hortolândia</a:t>
            </a:r>
            <a:endParaRPr sz="1500">
              <a:solidFill>
                <a:srgbClr val="CBD5E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5" name="Google Shape;105;p14"/>
          <p:cNvSpPr txBox="1"/>
          <p:nvPr/>
        </p:nvSpPr>
        <p:spPr>
          <a:xfrm>
            <a:off x="7096450" y="3180488"/>
            <a:ext cx="4446600" cy="75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15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rPr>
              <a:t>Juliana Godoy de</a:t>
            </a:r>
            <a:r>
              <a:rPr b="1" lang="en-US" sz="315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b="1" lang="en-US" sz="315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rPr>
              <a:t>Sá</a:t>
            </a:r>
            <a:endParaRPr b="1" sz="3150">
              <a:solidFill>
                <a:schemeClr val="lt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5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rPr>
              <a:t>juliana.sa@etec.sp.gov.br</a:t>
            </a:r>
            <a:endParaRPr b="1" sz="1750">
              <a:solidFill>
                <a:schemeClr val="lt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4943475" cy="2543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2847975"/>
            <a:ext cx="4905375" cy="3095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248275" y="152400"/>
            <a:ext cx="4943475" cy="3276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7" name="Google Shape;117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16"/>
          <p:cNvSpPr txBox="1"/>
          <p:nvPr/>
        </p:nvSpPr>
        <p:spPr>
          <a:xfrm>
            <a:off x="571500" y="4900612"/>
            <a:ext cx="110490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Distribuição focada em teoria aplicada e prática laboratorial.</a:t>
            </a:r>
            <a:endParaRPr/>
          </a:p>
        </p:txBody>
      </p:sp>
      <p:sp>
        <p:nvSpPr>
          <p:cNvPr id="119" name="Google Shape;119;p16"/>
          <p:cNvSpPr/>
          <p:nvPr/>
        </p:nvSpPr>
        <p:spPr>
          <a:xfrm>
            <a:off x="6086475" y="2547937"/>
            <a:ext cx="19050" cy="1905000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16"/>
          <p:cNvSpPr txBox="1"/>
          <p:nvPr/>
        </p:nvSpPr>
        <p:spPr>
          <a:xfrm>
            <a:off x="571500" y="2481262"/>
            <a:ext cx="4752975" cy="17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0" u="none" cap="none" strike="noStrike">
                <a:solidFill>
                  <a:srgbClr val="0EA5E9"/>
                </a:solidFill>
                <a:latin typeface="Inter"/>
                <a:ea typeface="Inter"/>
                <a:cs typeface="Inter"/>
                <a:sym typeface="Inter"/>
              </a:rPr>
              <a:t>80</a:t>
            </a:r>
            <a:endParaRPr/>
          </a:p>
        </p:txBody>
      </p:sp>
      <p:sp>
        <p:nvSpPr>
          <p:cNvPr id="121" name="Google Shape;121;p16"/>
          <p:cNvSpPr txBox="1"/>
          <p:nvPr/>
        </p:nvSpPr>
        <p:spPr>
          <a:xfrm>
            <a:off x="571500" y="4195762"/>
            <a:ext cx="4752975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HORAS ANUAIS</a:t>
            </a:r>
            <a:endParaRPr/>
          </a:p>
        </p:txBody>
      </p:sp>
      <p:sp>
        <p:nvSpPr>
          <p:cNvPr id="122" name="Google Shape;122;p16"/>
          <p:cNvSpPr txBox="1"/>
          <p:nvPr/>
        </p:nvSpPr>
        <p:spPr>
          <a:xfrm>
            <a:off x="6867525" y="2481262"/>
            <a:ext cx="4752975" cy="17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0" u="none" cap="none" strike="noStrike">
                <a:solidFill>
                  <a:srgbClr val="0EA5E9"/>
                </a:solidFill>
                <a:latin typeface="Inter"/>
                <a:ea typeface="Inter"/>
                <a:cs typeface="Inter"/>
                <a:sym typeface="Inter"/>
              </a:rPr>
              <a:t>02</a:t>
            </a:r>
            <a:endParaRPr/>
          </a:p>
        </p:txBody>
      </p:sp>
      <p:sp>
        <p:nvSpPr>
          <p:cNvPr id="123" name="Google Shape;123;p16"/>
          <p:cNvSpPr txBox="1"/>
          <p:nvPr/>
        </p:nvSpPr>
        <p:spPr>
          <a:xfrm>
            <a:off x="6867525" y="4195762"/>
            <a:ext cx="4752975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HORAS SEMANAIS</a:t>
            </a:r>
            <a:endParaRPr/>
          </a:p>
        </p:txBody>
      </p:sp>
      <p:sp>
        <p:nvSpPr>
          <p:cNvPr id="124" name="Google Shape;124;p16"/>
          <p:cNvSpPr txBox="1"/>
          <p:nvPr/>
        </p:nvSpPr>
        <p:spPr>
          <a:xfrm>
            <a:off x="800100" y="571500"/>
            <a:ext cx="11361420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ESTRUTURA E CARGA HORÁRIA</a:t>
            </a:r>
            <a:endParaRPr/>
          </a:p>
        </p:txBody>
      </p:sp>
      <p:sp>
        <p:nvSpPr>
          <p:cNvPr id="125" name="Google Shape;125;p16"/>
          <p:cNvSpPr/>
          <p:nvPr/>
        </p:nvSpPr>
        <p:spPr>
          <a:xfrm>
            <a:off x="571500" y="571500"/>
            <a:ext cx="76200" cy="619125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6" name="Google Shape;126;p16"/>
          <p:cNvPicPr preferRelativeResize="0"/>
          <p:nvPr/>
        </p:nvPicPr>
        <p:blipFill rotWithShape="1">
          <a:blip r:embed="rId4">
            <a:alphaModFix/>
          </a:blip>
          <a:srcRect b="26148" l="0" r="66422" t="7319"/>
          <a:stretch/>
        </p:blipFill>
        <p:spPr>
          <a:xfrm>
            <a:off x="11105350" y="169750"/>
            <a:ext cx="897649" cy="520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1" name="Google Shape;131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2" name="Google Shape;132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719387"/>
            <a:ext cx="5334000" cy="2419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3" name="Google Shape;133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86500" y="2719387"/>
            <a:ext cx="5334000" cy="2419350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17"/>
          <p:cNvSpPr txBox="1"/>
          <p:nvPr/>
        </p:nvSpPr>
        <p:spPr>
          <a:xfrm>
            <a:off x="962025" y="3109912"/>
            <a:ext cx="4780597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EA5E9"/>
                </a:solidFill>
                <a:latin typeface="Poppins"/>
                <a:ea typeface="Poppins"/>
                <a:cs typeface="Poppins"/>
                <a:sym typeface="Poppins"/>
              </a:rPr>
              <a:t>Função Principal</a:t>
            </a:r>
            <a:endParaRPr/>
          </a:p>
        </p:txBody>
      </p:sp>
      <p:sp>
        <p:nvSpPr>
          <p:cNvPr id="135" name="Google Shape;135;p17"/>
          <p:cNvSpPr txBox="1"/>
          <p:nvPr/>
        </p:nvSpPr>
        <p:spPr>
          <a:xfrm>
            <a:off x="962025" y="3700462"/>
            <a:ext cx="4552950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Focada no planejamento de modelo conceitual de banco de dados, transformando requisitos em esquemas estruturados.</a:t>
            </a:r>
            <a:endParaRPr/>
          </a:p>
        </p:txBody>
      </p:sp>
      <p:sp>
        <p:nvSpPr>
          <p:cNvPr id="136" name="Google Shape;136;p17"/>
          <p:cNvSpPr txBox="1"/>
          <p:nvPr/>
        </p:nvSpPr>
        <p:spPr>
          <a:xfrm>
            <a:off x="6677025" y="3109912"/>
            <a:ext cx="4780597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EA5E9"/>
                </a:solidFill>
                <a:latin typeface="Poppins"/>
                <a:ea typeface="Poppins"/>
                <a:cs typeface="Poppins"/>
                <a:sym typeface="Poppins"/>
              </a:rPr>
              <a:t>Atribuições</a:t>
            </a:r>
            <a:endParaRPr/>
          </a:p>
        </p:txBody>
      </p:sp>
      <p:sp>
        <p:nvSpPr>
          <p:cNvPr id="137" name="Google Shape;137;p17"/>
          <p:cNvSpPr txBox="1"/>
          <p:nvPr/>
        </p:nvSpPr>
        <p:spPr>
          <a:xfrm>
            <a:off x="6677025" y="3700462"/>
            <a:ext cx="4552950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Classificação: Planejamento.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Responsabilidade central: Modelar bancos de dados eficientes e normalizados.</a:t>
            </a:r>
            <a:endParaRPr/>
          </a:p>
        </p:txBody>
      </p:sp>
      <p:sp>
        <p:nvSpPr>
          <p:cNvPr id="138" name="Google Shape;138;p17"/>
          <p:cNvSpPr txBox="1"/>
          <p:nvPr/>
        </p:nvSpPr>
        <p:spPr>
          <a:xfrm>
            <a:off x="800100" y="571500"/>
            <a:ext cx="11361420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VISÃO GERAL DA DISCIPLINA</a:t>
            </a:r>
            <a:endParaRPr/>
          </a:p>
        </p:txBody>
      </p:sp>
      <p:sp>
        <p:nvSpPr>
          <p:cNvPr id="139" name="Google Shape;139;p17"/>
          <p:cNvSpPr/>
          <p:nvPr/>
        </p:nvSpPr>
        <p:spPr>
          <a:xfrm>
            <a:off x="571500" y="571500"/>
            <a:ext cx="76200" cy="619125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0" name="Google Shape;140;p17"/>
          <p:cNvPicPr preferRelativeResize="0"/>
          <p:nvPr/>
        </p:nvPicPr>
        <p:blipFill rotWithShape="1">
          <a:blip r:embed="rId6">
            <a:alphaModFix/>
          </a:blip>
          <a:srcRect b="26148" l="0" r="66422" t="7319"/>
          <a:stretch/>
        </p:blipFill>
        <p:spPr>
          <a:xfrm>
            <a:off x="11105350" y="169750"/>
            <a:ext cx="897649" cy="520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5" name="Google Shape;145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6" name="Google Shape;146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414587"/>
            <a:ext cx="3492549" cy="30289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7" name="Google Shape;147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49799" y="2414587"/>
            <a:ext cx="3492549" cy="30289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8" name="Google Shape;148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8099" y="2414587"/>
            <a:ext cx="3492549" cy="30289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9" name="Google Shape;149;p1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079575" y="2795587"/>
            <a:ext cx="476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18"/>
          <p:cNvSpPr txBox="1"/>
          <p:nvPr/>
        </p:nvSpPr>
        <p:spPr>
          <a:xfrm>
            <a:off x="884236" y="3509962"/>
            <a:ext cx="2867077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Organização</a:t>
            </a:r>
            <a:endParaRPr/>
          </a:p>
        </p:txBody>
      </p:sp>
      <p:sp>
        <p:nvSpPr>
          <p:cNvPr id="151" name="Google Shape;151;p18"/>
          <p:cNvSpPr txBox="1"/>
          <p:nvPr/>
        </p:nvSpPr>
        <p:spPr>
          <a:xfrm>
            <a:off x="952500" y="3976687"/>
            <a:ext cx="2730549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Estimular a postura metódica na estruturação dos dados.</a:t>
            </a:r>
            <a:endParaRPr/>
          </a:p>
        </p:txBody>
      </p:sp>
      <p:pic>
        <p:nvPicPr>
          <p:cNvPr descr="image.png" id="152" name="Google Shape;152;p1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857875" y="2795587"/>
            <a:ext cx="476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18"/>
          <p:cNvSpPr txBox="1"/>
          <p:nvPr/>
        </p:nvSpPr>
        <p:spPr>
          <a:xfrm>
            <a:off x="4662535" y="3509962"/>
            <a:ext cx="2867077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Resolução</a:t>
            </a:r>
            <a:endParaRPr/>
          </a:p>
        </p:txBody>
      </p:sp>
      <p:sp>
        <p:nvSpPr>
          <p:cNvPr id="154" name="Google Shape;154;p18"/>
          <p:cNvSpPr txBox="1"/>
          <p:nvPr/>
        </p:nvSpPr>
        <p:spPr>
          <a:xfrm>
            <a:off x="4730799" y="3976687"/>
            <a:ext cx="2730549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Interesse proativo em situações-problema do mercado.</a:t>
            </a:r>
            <a:endParaRPr/>
          </a:p>
        </p:txBody>
      </p:sp>
      <p:pic>
        <p:nvPicPr>
          <p:cNvPr descr="image.png" id="155" name="Google Shape;155;p18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636174" y="2795587"/>
            <a:ext cx="476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8"/>
          <p:cNvSpPr txBox="1"/>
          <p:nvPr/>
        </p:nvSpPr>
        <p:spPr>
          <a:xfrm>
            <a:off x="8440835" y="3509962"/>
            <a:ext cx="2867077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Normatização</a:t>
            </a:r>
            <a:endParaRPr/>
          </a:p>
        </p:txBody>
      </p:sp>
      <p:sp>
        <p:nvSpPr>
          <p:cNvPr id="157" name="Google Shape;157;p18"/>
          <p:cNvSpPr txBox="1"/>
          <p:nvPr/>
        </p:nvSpPr>
        <p:spPr>
          <a:xfrm>
            <a:off x="8509099" y="3976687"/>
            <a:ext cx="2730549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Respeito rigoroso às normas e padrões técnicos estabelecidos.</a:t>
            </a:r>
            <a:endParaRPr/>
          </a:p>
        </p:txBody>
      </p:sp>
      <p:sp>
        <p:nvSpPr>
          <p:cNvPr id="158" name="Google Shape;158;p18"/>
          <p:cNvSpPr txBox="1"/>
          <p:nvPr/>
        </p:nvSpPr>
        <p:spPr>
          <a:xfrm>
            <a:off x="800100" y="571500"/>
            <a:ext cx="11361420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VALORES E ATITUDES</a:t>
            </a:r>
            <a:endParaRPr/>
          </a:p>
        </p:txBody>
      </p:sp>
      <p:sp>
        <p:nvSpPr>
          <p:cNvPr id="159" name="Google Shape;159;p18"/>
          <p:cNvSpPr/>
          <p:nvPr/>
        </p:nvSpPr>
        <p:spPr>
          <a:xfrm>
            <a:off x="571500" y="571500"/>
            <a:ext cx="76200" cy="619125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0" name="Google Shape;160;p18"/>
          <p:cNvPicPr preferRelativeResize="0"/>
          <p:nvPr/>
        </p:nvPicPr>
        <p:blipFill rotWithShape="1">
          <a:blip r:embed="rId10">
            <a:alphaModFix/>
          </a:blip>
          <a:srcRect b="26148" l="0" r="66422" t="7319"/>
          <a:stretch/>
        </p:blipFill>
        <p:spPr>
          <a:xfrm>
            <a:off x="11105350" y="169750"/>
            <a:ext cx="897649" cy="520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5" name="Google Shape;165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19"/>
          <p:cNvSpPr txBox="1"/>
          <p:nvPr/>
        </p:nvSpPr>
        <p:spPr>
          <a:xfrm>
            <a:off x="755332" y="2480369"/>
            <a:ext cx="10681335" cy="7542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400" u="none" cap="none" strike="noStrike">
                <a:solidFill>
                  <a:srgbClr val="0EA5E9"/>
                </a:solidFill>
                <a:latin typeface="Poppins"/>
                <a:ea typeface="Poppins"/>
                <a:cs typeface="Poppins"/>
                <a:sym typeface="Poppins"/>
              </a:rPr>
              <a:t>Competências e Habilidades</a:t>
            </a:r>
            <a:endParaRPr/>
          </a:p>
        </p:txBody>
      </p:sp>
      <p:sp>
        <p:nvSpPr>
          <p:cNvPr id="167" name="Google Shape;167;p19"/>
          <p:cNvSpPr txBox="1"/>
          <p:nvPr/>
        </p:nvSpPr>
        <p:spPr>
          <a:xfrm>
            <a:off x="2286000" y="3615630"/>
            <a:ext cx="7620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O desenvolvimento técnico do aluno através de metas claras de aprendizagem e aplicação prática.</a:t>
            </a:r>
            <a:endParaRPr/>
          </a:p>
        </p:txBody>
      </p:sp>
      <p:pic>
        <p:nvPicPr>
          <p:cNvPr id="168" name="Google Shape;168;p19"/>
          <p:cNvPicPr preferRelativeResize="0"/>
          <p:nvPr/>
        </p:nvPicPr>
        <p:blipFill rotWithShape="1">
          <a:blip r:embed="rId4">
            <a:alphaModFix/>
          </a:blip>
          <a:srcRect b="26148" l="0" r="66422" t="7319"/>
          <a:stretch/>
        </p:blipFill>
        <p:spPr>
          <a:xfrm>
            <a:off x="11105350" y="169750"/>
            <a:ext cx="897649" cy="520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3" name="Google Shape;173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4" name="Google Shape;174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862262"/>
            <a:ext cx="5334000" cy="2133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5" name="Google Shape;175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86500" y="2667000"/>
            <a:ext cx="5334000" cy="2524125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20"/>
          <p:cNvSpPr txBox="1"/>
          <p:nvPr/>
        </p:nvSpPr>
        <p:spPr>
          <a:xfrm>
            <a:off x="962025" y="3252787"/>
            <a:ext cx="4780597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EA5E9"/>
                </a:solidFill>
                <a:latin typeface="Poppins"/>
                <a:ea typeface="Poppins"/>
                <a:cs typeface="Poppins"/>
                <a:sym typeface="Poppins"/>
              </a:rPr>
              <a:t>Competência Profissional</a:t>
            </a:r>
            <a:endParaRPr/>
          </a:p>
        </p:txBody>
      </p:sp>
      <p:sp>
        <p:nvSpPr>
          <p:cNvPr id="177" name="Google Shape;177;p20"/>
          <p:cNvSpPr txBox="1"/>
          <p:nvPr/>
        </p:nvSpPr>
        <p:spPr>
          <a:xfrm>
            <a:off x="962025" y="3843337"/>
            <a:ext cx="45529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1. Desenvolver modelos de banco de dados completos e funcionais.</a:t>
            </a:r>
            <a:endParaRPr/>
          </a:p>
        </p:txBody>
      </p:sp>
      <p:sp>
        <p:nvSpPr>
          <p:cNvPr id="178" name="Google Shape;178;p20"/>
          <p:cNvSpPr txBox="1"/>
          <p:nvPr/>
        </p:nvSpPr>
        <p:spPr>
          <a:xfrm>
            <a:off x="6677025" y="3057525"/>
            <a:ext cx="4780597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EA5E9"/>
                </a:solidFill>
                <a:latin typeface="Poppins"/>
                <a:ea typeface="Poppins"/>
                <a:cs typeface="Poppins"/>
                <a:sym typeface="Poppins"/>
              </a:rPr>
              <a:t>Habilidades Iniciais</a:t>
            </a:r>
            <a:endParaRPr/>
          </a:p>
        </p:txBody>
      </p:sp>
      <p:sp>
        <p:nvSpPr>
          <p:cNvPr id="179" name="Google Shape;179;p20"/>
          <p:cNvSpPr txBox="1"/>
          <p:nvPr/>
        </p:nvSpPr>
        <p:spPr>
          <a:xfrm>
            <a:off x="7010400" y="3648075"/>
            <a:ext cx="4219575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1.1 Levantar necessidades de informações do sistema.</a:t>
            </a:r>
            <a:endParaRPr/>
          </a:p>
        </p:txBody>
      </p:sp>
      <p:sp>
        <p:nvSpPr>
          <p:cNvPr id="180" name="Google Shape;180;p20"/>
          <p:cNvSpPr txBox="1"/>
          <p:nvPr/>
        </p:nvSpPr>
        <p:spPr>
          <a:xfrm>
            <a:off x="7010400" y="4362450"/>
            <a:ext cx="421957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1.2 Normalizar tabelas de banco de dados.</a:t>
            </a:r>
            <a:endParaRPr/>
          </a:p>
        </p:txBody>
      </p:sp>
      <p:sp>
        <p:nvSpPr>
          <p:cNvPr id="181" name="Google Shape;181;p20"/>
          <p:cNvSpPr txBox="1"/>
          <p:nvPr/>
        </p:nvSpPr>
        <p:spPr>
          <a:xfrm>
            <a:off x="6677025" y="3648075"/>
            <a:ext cx="1905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EA5E9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/>
          </a:p>
        </p:txBody>
      </p:sp>
      <p:sp>
        <p:nvSpPr>
          <p:cNvPr id="182" name="Google Shape;182;p20"/>
          <p:cNvSpPr txBox="1"/>
          <p:nvPr/>
        </p:nvSpPr>
        <p:spPr>
          <a:xfrm>
            <a:off x="6677025" y="4362450"/>
            <a:ext cx="1905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EA5E9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/>
          </a:p>
        </p:txBody>
      </p:sp>
      <p:sp>
        <p:nvSpPr>
          <p:cNvPr id="183" name="Google Shape;183;p20"/>
          <p:cNvSpPr txBox="1"/>
          <p:nvPr/>
        </p:nvSpPr>
        <p:spPr>
          <a:xfrm>
            <a:off x="800100" y="571500"/>
            <a:ext cx="11361420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COMPETÊNCIA E INÍCIO DE PERCURSO</a:t>
            </a:r>
            <a:endParaRPr/>
          </a:p>
        </p:txBody>
      </p:sp>
      <p:sp>
        <p:nvSpPr>
          <p:cNvPr id="184" name="Google Shape;184;p20"/>
          <p:cNvSpPr/>
          <p:nvPr/>
        </p:nvSpPr>
        <p:spPr>
          <a:xfrm>
            <a:off x="571500" y="571500"/>
            <a:ext cx="76200" cy="619125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5" name="Google Shape;185;p20"/>
          <p:cNvPicPr preferRelativeResize="0"/>
          <p:nvPr/>
        </p:nvPicPr>
        <p:blipFill rotWithShape="1">
          <a:blip r:embed="rId6">
            <a:alphaModFix/>
          </a:blip>
          <a:srcRect b="26148" l="0" r="66422" t="7319"/>
          <a:stretch/>
        </p:blipFill>
        <p:spPr>
          <a:xfrm>
            <a:off x="11105350" y="169750"/>
            <a:ext cx="897649" cy="520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0" name="Google Shape;190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1" name="Google Shape;191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862262"/>
            <a:ext cx="5334000" cy="2133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2" name="Google Shape;192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86500" y="2862262"/>
            <a:ext cx="5334000" cy="2133600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21"/>
          <p:cNvSpPr txBox="1"/>
          <p:nvPr/>
        </p:nvSpPr>
        <p:spPr>
          <a:xfrm>
            <a:off x="962025" y="3252787"/>
            <a:ext cx="4780597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EA5E9"/>
                </a:solidFill>
                <a:latin typeface="Poppins"/>
                <a:ea typeface="Poppins"/>
                <a:cs typeface="Poppins"/>
                <a:sym typeface="Poppins"/>
              </a:rPr>
              <a:t>Relacionamentos</a:t>
            </a:r>
            <a:endParaRPr/>
          </a:p>
        </p:txBody>
      </p:sp>
      <p:sp>
        <p:nvSpPr>
          <p:cNvPr id="194" name="Google Shape;194;p21"/>
          <p:cNvSpPr txBox="1"/>
          <p:nvPr/>
        </p:nvSpPr>
        <p:spPr>
          <a:xfrm>
            <a:off x="962025" y="3843337"/>
            <a:ext cx="45529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1.3 Associar as tabelas para a construção lógica e física do banco de dados.</a:t>
            </a:r>
            <a:endParaRPr/>
          </a:p>
        </p:txBody>
      </p:sp>
      <p:sp>
        <p:nvSpPr>
          <p:cNvPr id="195" name="Google Shape;195;p21"/>
          <p:cNvSpPr txBox="1"/>
          <p:nvPr/>
        </p:nvSpPr>
        <p:spPr>
          <a:xfrm>
            <a:off x="6677025" y="3252787"/>
            <a:ext cx="4780597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EA5E9"/>
                </a:solidFill>
                <a:latin typeface="Poppins"/>
                <a:ea typeface="Poppins"/>
                <a:cs typeface="Poppins"/>
                <a:sym typeface="Poppins"/>
              </a:rPr>
              <a:t>Linguagem SQL</a:t>
            </a:r>
            <a:endParaRPr/>
          </a:p>
        </p:txBody>
      </p:sp>
      <p:sp>
        <p:nvSpPr>
          <p:cNvPr id="196" name="Google Shape;196;p21"/>
          <p:cNvSpPr txBox="1"/>
          <p:nvPr/>
        </p:nvSpPr>
        <p:spPr>
          <a:xfrm>
            <a:off x="6677025" y="3843337"/>
            <a:ext cx="45529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1.4 Aplicar linguagem SQL profissional na construção técnica das tabelas.</a:t>
            </a:r>
            <a:endParaRPr/>
          </a:p>
        </p:txBody>
      </p:sp>
      <p:sp>
        <p:nvSpPr>
          <p:cNvPr id="197" name="Google Shape;197;p21"/>
          <p:cNvSpPr txBox="1"/>
          <p:nvPr/>
        </p:nvSpPr>
        <p:spPr>
          <a:xfrm>
            <a:off x="800100" y="571500"/>
            <a:ext cx="11361420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HABILIDADES DE IMPLEMENTAÇÃO</a:t>
            </a:r>
            <a:endParaRPr/>
          </a:p>
        </p:txBody>
      </p:sp>
      <p:sp>
        <p:nvSpPr>
          <p:cNvPr id="198" name="Google Shape;198;p21"/>
          <p:cNvSpPr/>
          <p:nvPr/>
        </p:nvSpPr>
        <p:spPr>
          <a:xfrm>
            <a:off x="571500" y="571500"/>
            <a:ext cx="76200" cy="619125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9" name="Google Shape;199;p21"/>
          <p:cNvPicPr preferRelativeResize="0"/>
          <p:nvPr/>
        </p:nvPicPr>
        <p:blipFill rotWithShape="1">
          <a:blip r:embed="rId6">
            <a:alphaModFix/>
          </a:blip>
          <a:srcRect b="26148" l="0" r="66422" t="7319"/>
          <a:stretch/>
        </p:blipFill>
        <p:spPr>
          <a:xfrm>
            <a:off x="11105350" y="169750"/>
            <a:ext cx="897649" cy="520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4" name="Google Shape;204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5" name="Google Shape;205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858000" y="1785937"/>
            <a:ext cx="4762500" cy="428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6" name="Google Shape;206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867525" y="1795462"/>
            <a:ext cx="4743450" cy="426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22"/>
          <p:cNvSpPr txBox="1"/>
          <p:nvPr/>
        </p:nvSpPr>
        <p:spPr>
          <a:xfrm>
            <a:off x="904875" y="3214687"/>
            <a:ext cx="538162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Evolução e operacionalização nas organizações.</a:t>
            </a:r>
            <a:endParaRPr/>
          </a:p>
        </p:txBody>
      </p:sp>
      <p:sp>
        <p:nvSpPr>
          <p:cNvPr id="208" name="Google Shape;208;p22"/>
          <p:cNvSpPr txBox="1"/>
          <p:nvPr/>
        </p:nvSpPr>
        <p:spPr>
          <a:xfrm>
            <a:off x="904875" y="3643312"/>
            <a:ext cx="538162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Fundamentos dos modelos conceitual e lógico.</a:t>
            </a:r>
            <a:endParaRPr/>
          </a:p>
        </p:txBody>
      </p:sp>
      <p:sp>
        <p:nvSpPr>
          <p:cNvPr id="209" name="Google Shape;209;p22"/>
          <p:cNvSpPr txBox="1"/>
          <p:nvPr/>
        </p:nvSpPr>
        <p:spPr>
          <a:xfrm>
            <a:off x="904875" y="4071937"/>
            <a:ext cx="5381625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Utilização estratégica de ferramentas CASE para modelagem visual.</a:t>
            </a:r>
            <a:endParaRPr/>
          </a:p>
        </p:txBody>
      </p:sp>
      <p:sp>
        <p:nvSpPr>
          <p:cNvPr id="210" name="Google Shape;210;p22"/>
          <p:cNvSpPr txBox="1"/>
          <p:nvPr/>
        </p:nvSpPr>
        <p:spPr>
          <a:xfrm>
            <a:off x="571500" y="3214687"/>
            <a:ext cx="1905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EA5E9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/>
          </a:p>
        </p:txBody>
      </p:sp>
      <p:sp>
        <p:nvSpPr>
          <p:cNvPr id="211" name="Google Shape;211;p22"/>
          <p:cNvSpPr txBox="1"/>
          <p:nvPr/>
        </p:nvSpPr>
        <p:spPr>
          <a:xfrm>
            <a:off x="571500" y="3643312"/>
            <a:ext cx="1905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EA5E9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/>
          </a:p>
        </p:txBody>
      </p:sp>
      <p:sp>
        <p:nvSpPr>
          <p:cNvPr id="212" name="Google Shape;212;p22"/>
          <p:cNvSpPr txBox="1"/>
          <p:nvPr/>
        </p:nvSpPr>
        <p:spPr>
          <a:xfrm>
            <a:off x="571500" y="4071937"/>
            <a:ext cx="1905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EA5E9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/>
          </a:p>
        </p:txBody>
      </p:sp>
      <p:sp>
        <p:nvSpPr>
          <p:cNvPr id="213" name="Google Shape;213;p22"/>
          <p:cNvSpPr txBox="1"/>
          <p:nvPr/>
        </p:nvSpPr>
        <p:spPr>
          <a:xfrm>
            <a:off x="800100" y="571500"/>
            <a:ext cx="11361420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BASES TECNOLÓGICAS: FUNDAMENTOS</a:t>
            </a:r>
            <a:endParaRPr/>
          </a:p>
        </p:txBody>
      </p:sp>
      <p:sp>
        <p:nvSpPr>
          <p:cNvPr id="214" name="Google Shape;214;p22"/>
          <p:cNvSpPr/>
          <p:nvPr/>
        </p:nvSpPr>
        <p:spPr>
          <a:xfrm>
            <a:off x="571500" y="571500"/>
            <a:ext cx="76200" cy="619125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5" name="Google Shape;215;p22"/>
          <p:cNvPicPr preferRelativeResize="0"/>
          <p:nvPr/>
        </p:nvPicPr>
        <p:blipFill rotWithShape="1">
          <a:blip r:embed="rId6">
            <a:alphaModFix/>
          </a:blip>
          <a:srcRect b="26148" l="0" r="66422" t="7319"/>
          <a:stretch/>
        </p:blipFill>
        <p:spPr>
          <a:xfrm>
            <a:off x="11105350" y="169750"/>
            <a:ext cx="897649" cy="520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20" name="Google Shape;220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23"/>
          <p:cNvSpPr txBox="1"/>
          <p:nvPr/>
        </p:nvSpPr>
        <p:spPr>
          <a:xfrm>
            <a:off x="800100" y="762000"/>
            <a:ext cx="4960620" cy="1238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ENTIDADES E ATRIBUTOS</a:t>
            </a:r>
            <a:endParaRPr/>
          </a:p>
        </p:txBody>
      </p:sp>
      <p:sp>
        <p:nvSpPr>
          <p:cNvPr id="222" name="Google Shape;222;p23"/>
          <p:cNvSpPr/>
          <p:nvPr/>
        </p:nvSpPr>
        <p:spPr>
          <a:xfrm>
            <a:off x="571500" y="762000"/>
            <a:ext cx="76200" cy="123825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23"/>
          <p:cNvSpPr txBox="1"/>
          <p:nvPr/>
        </p:nvSpPr>
        <p:spPr>
          <a:xfrm>
            <a:off x="571500" y="2571750"/>
            <a:ext cx="4953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Estudo aprofundado das classificações e representações gráficas.</a:t>
            </a:r>
            <a:endParaRPr/>
          </a:p>
        </p:txBody>
      </p:sp>
      <p:sp>
        <p:nvSpPr>
          <p:cNvPr id="224" name="Google Shape;224;p23"/>
          <p:cNvSpPr txBox="1"/>
          <p:nvPr/>
        </p:nvSpPr>
        <p:spPr>
          <a:xfrm>
            <a:off x="904875" y="3524250"/>
            <a:ext cx="461962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Identificação de Entidades e Atributos.</a:t>
            </a:r>
            <a:endParaRPr/>
          </a:p>
        </p:txBody>
      </p:sp>
      <p:sp>
        <p:nvSpPr>
          <p:cNvPr id="225" name="Google Shape;225;p23"/>
          <p:cNvSpPr txBox="1"/>
          <p:nvPr/>
        </p:nvSpPr>
        <p:spPr>
          <a:xfrm>
            <a:off x="904875" y="3952875"/>
            <a:ext cx="461962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Análise e modelagem de características.</a:t>
            </a:r>
            <a:endParaRPr/>
          </a:p>
        </p:txBody>
      </p:sp>
      <p:sp>
        <p:nvSpPr>
          <p:cNvPr id="226" name="Google Shape;226;p23"/>
          <p:cNvSpPr txBox="1"/>
          <p:nvPr/>
        </p:nvSpPr>
        <p:spPr>
          <a:xfrm>
            <a:off x="904875" y="4381500"/>
            <a:ext cx="461962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Distinção técnica entre objetos e propriedades.</a:t>
            </a:r>
            <a:endParaRPr/>
          </a:p>
        </p:txBody>
      </p:sp>
      <p:sp>
        <p:nvSpPr>
          <p:cNvPr id="227" name="Google Shape;227;p23"/>
          <p:cNvSpPr txBox="1"/>
          <p:nvPr/>
        </p:nvSpPr>
        <p:spPr>
          <a:xfrm>
            <a:off x="571500" y="3524250"/>
            <a:ext cx="1905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EA5E9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/>
          </a:p>
        </p:txBody>
      </p:sp>
      <p:sp>
        <p:nvSpPr>
          <p:cNvPr id="228" name="Google Shape;228;p23"/>
          <p:cNvSpPr txBox="1"/>
          <p:nvPr/>
        </p:nvSpPr>
        <p:spPr>
          <a:xfrm>
            <a:off x="571500" y="3952875"/>
            <a:ext cx="1905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EA5E9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/>
          </a:p>
        </p:txBody>
      </p:sp>
      <p:sp>
        <p:nvSpPr>
          <p:cNvPr id="229" name="Google Shape;229;p23"/>
          <p:cNvSpPr txBox="1"/>
          <p:nvPr/>
        </p:nvSpPr>
        <p:spPr>
          <a:xfrm>
            <a:off x="571500" y="4381500"/>
            <a:ext cx="1905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EA5E9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/>
          </a:p>
        </p:txBody>
      </p:sp>
      <p:pic>
        <p:nvPicPr>
          <p:cNvPr descr="image.png" id="230" name="Google Shape;230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96000" y="0"/>
            <a:ext cx="6096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35" name="Google Shape;235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6" name="Google Shape;236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414587"/>
            <a:ext cx="3492549" cy="30289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7" name="Google Shape;237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49799" y="2414587"/>
            <a:ext cx="3492549" cy="30289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8" name="Google Shape;238;p2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8099" y="2414587"/>
            <a:ext cx="3492549" cy="30289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9" name="Google Shape;239;p2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017662" y="2795587"/>
            <a:ext cx="600075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40" name="Google Shape;240;p24"/>
          <p:cNvSpPr txBox="1"/>
          <p:nvPr/>
        </p:nvSpPr>
        <p:spPr>
          <a:xfrm>
            <a:off x="884236" y="3509962"/>
            <a:ext cx="2867077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Grau</a:t>
            </a:r>
            <a:endParaRPr/>
          </a:p>
        </p:txBody>
      </p:sp>
      <p:sp>
        <p:nvSpPr>
          <p:cNvPr id="241" name="Google Shape;241;p24"/>
          <p:cNvSpPr txBox="1"/>
          <p:nvPr/>
        </p:nvSpPr>
        <p:spPr>
          <a:xfrm>
            <a:off x="952500" y="3976687"/>
            <a:ext cx="2730549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Relacionamentos binários e ternários; Auto relacionamento reflexivo.</a:t>
            </a:r>
            <a:endParaRPr/>
          </a:p>
        </p:txBody>
      </p:sp>
      <p:pic>
        <p:nvPicPr>
          <p:cNvPr descr="image.png" id="242" name="Google Shape;242;p2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829300" y="2795587"/>
            <a:ext cx="53340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43" name="Google Shape;243;p24"/>
          <p:cNvSpPr txBox="1"/>
          <p:nvPr/>
        </p:nvSpPr>
        <p:spPr>
          <a:xfrm>
            <a:off x="4662535" y="3509962"/>
            <a:ext cx="2867077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Cardinalidade</a:t>
            </a:r>
            <a:endParaRPr/>
          </a:p>
        </p:txBody>
      </p:sp>
      <p:sp>
        <p:nvSpPr>
          <p:cNvPr id="244" name="Google Shape;244;p24"/>
          <p:cNvSpPr txBox="1"/>
          <p:nvPr/>
        </p:nvSpPr>
        <p:spPr>
          <a:xfrm>
            <a:off x="4730799" y="3976687"/>
            <a:ext cx="2730549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Definição de restrições de 1:1, 1:N e N:N.</a:t>
            </a:r>
            <a:endParaRPr/>
          </a:p>
        </p:txBody>
      </p:sp>
      <p:pic>
        <p:nvPicPr>
          <p:cNvPr descr="image.png" id="245" name="Google Shape;245;p2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636174" y="2795587"/>
            <a:ext cx="476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46" name="Google Shape;246;p24"/>
          <p:cNvSpPr txBox="1"/>
          <p:nvPr/>
        </p:nvSpPr>
        <p:spPr>
          <a:xfrm>
            <a:off x="8440835" y="3509962"/>
            <a:ext cx="2867077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Integridade</a:t>
            </a:r>
            <a:endParaRPr/>
          </a:p>
        </p:txBody>
      </p:sp>
      <p:sp>
        <p:nvSpPr>
          <p:cNvPr id="247" name="Google Shape;247;p24"/>
          <p:cNvSpPr txBox="1"/>
          <p:nvPr/>
        </p:nvSpPr>
        <p:spPr>
          <a:xfrm>
            <a:off x="8509099" y="3976687"/>
            <a:ext cx="2730549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Tipos de restrições: Relacional e Referencial.</a:t>
            </a:r>
            <a:endParaRPr/>
          </a:p>
        </p:txBody>
      </p:sp>
      <p:sp>
        <p:nvSpPr>
          <p:cNvPr id="248" name="Google Shape;248;p24"/>
          <p:cNvSpPr txBox="1"/>
          <p:nvPr/>
        </p:nvSpPr>
        <p:spPr>
          <a:xfrm>
            <a:off x="800100" y="571500"/>
            <a:ext cx="11361420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RELACIONAMENTOS E CARDINALIDADE</a:t>
            </a:r>
            <a:endParaRPr/>
          </a:p>
        </p:txBody>
      </p:sp>
      <p:sp>
        <p:nvSpPr>
          <p:cNvPr id="249" name="Google Shape;249;p24"/>
          <p:cNvSpPr/>
          <p:nvPr/>
        </p:nvSpPr>
        <p:spPr>
          <a:xfrm>
            <a:off x="571500" y="571500"/>
            <a:ext cx="76200" cy="619125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50" name="Google Shape;250;p24"/>
          <p:cNvPicPr preferRelativeResize="0"/>
          <p:nvPr/>
        </p:nvPicPr>
        <p:blipFill rotWithShape="1">
          <a:blip r:embed="rId10">
            <a:alphaModFix/>
          </a:blip>
          <a:srcRect b="26148" l="0" r="66422" t="7319"/>
          <a:stretch/>
        </p:blipFill>
        <p:spPr>
          <a:xfrm>
            <a:off x="11105350" y="169750"/>
            <a:ext cx="897649" cy="520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55" name="Google Shape;255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6" name="Google Shape;256;p25"/>
          <p:cNvSpPr txBox="1"/>
          <p:nvPr/>
        </p:nvSpPr>
        <p:spPr>
          <a:xfrm>
            <a:off x="571500" y="2995612"/>
            <a:ext cx="5715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Conceitos fundamentais para garantir a saúde do banco de dados e evitar redundância.</a:t>
            </a:r>
            <a:endParaRPr/>
          </a:p>
        </p:txBody>
      </p:sp>
      <p:sp>
        <p:nvSpPr>
          <p:cNvPr id="257" name="Google Shape;257;p25"/>
          <p:cNvSpPr txBox="1"/>
          <p:nvPr/>
        </p:nvSpPr>
        <p:spPr>
          <a:xfrm>
            <a:off x="904875" y="3757612"/>
            <a:ext cx="538162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1ª Forma Normal: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Atomicidade.</a:t>
            </a:r>
            <a:endParaRPr/>
          </a:p>
        </p:txBody>
      </p:sp>
      <p:sp>
        <p:nvSpPr>
          <p:cNvPr id="258" name="Google Shape;258;p25"/>
          <p:cNvSpPr txBox="1"/>
          <p:nvPr/>
        </p:nvSpPr>
        <p:spPr>
          <a:xfrm>
            <a:off x="904875" y="4186237"/>
            <a:ext cx="538162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2ª Forma Normal: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Dependência Funcional.</a:t>
            </a:r>
            <a:endParaRPr/>
          </a:p>
        </p:txBody>
      </p:sp>
      <p:sp>
        <p:nvSpPr>
          <p:cNvPr id="259" name="Google Shape;259;p25"/>
          <p:cNvSpPr txBox="1"/>
          <p:nvPr/>
        </p:nvSpPr>
        <p:spPr>
          <a:xfrm>
            <a:off x="904875" y="4614862"/>
            <a:ext cx="538162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3ª Forma Normal: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Dependência Transitiva.</a:t>
            </a:r>
            <a:endParaRPr/>
          </a:p>
        </p:txBody>
      </p:sp>
      <p:sp>
        <p:nvSpPr>
          <p:cNvPr id="260" name="Google Shape;260;p25"/>
          <p:cNvSpPr txBox="1"/>
          <p:nvPr/>
        </p:nvSpPr>
        <p:spPr>
          <a:xfrm>
            <a:off x="571500" y="3757612"/>
            <a:ext cx="1905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EA5E9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/>
          </a:p>
        </p:txBody>
      </p:sp>
      <p:sp>
        <p:nvSpPr>
          <p:cNvPr id="261" name="Google Shape;261;p25"/>
          <p:cNvSpPr txBox="1"/>
          <p:nvPr/>
        </p:nvSpPr>
        <p:spPr>
          <a:xfrm>
            <a:off x="571500" y="4186237"/>
            <a:ext cx="1905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EA5E9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/>
          </a:p>
        </p:txBody>
      </p:sp>
      <p:sp>
        <p:nvSpPr>
          <p:cNvPr id="262" name="Google Shape;262;p25"/>
          <p:cNvSpPr txBox="1"/>
          <p:nvPr/>
        </p:nvSpPr>
        <p:spPr>
          <a:xfrm>
            <a:off x="571500" y="4614862"/>
            <a:ext cx="1905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EA5E9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/>
          </a:p>
        </p:txBody>
      </p:sp>
      <p:sp>
        <p:nvSpPr>
          <p:cNvPr id="263" name="Google Shape;263;p25"/>
          <p:cNvSpPr txBox="1"/>
          <p:nvPr/>
        </p:nvSpPr>
        <p:spPr>
          <a:xfrm>
            <a:off x="800100" y="571500"/>
            <a:ext cx="11361420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NORMALIZAÇÃO DE DADOS</a:t>
            </a:r>
            <a:endParaRPr/>
          </a:p>
        </p:txBody>
      </p:sp>
      <p:sp>
        <p:nvSpPr>
          <p:cNvPr id="264" name="Google Shape;264;p25"/>
          <p:cNvSpPr/>
          <p:nvPr/>
        </p:nvSpPr>
        <p:spPr>
          <a:xfrm>
            <a:off x="571500" y="571500"/>
            <a:ext cx="76200" cy="619125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65" name="Google Shape;265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867525" y="2042125"/>
            <a:ext cx="4832500" cy="4020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6" name="Google Shape;266;p25"/>
          <p:cNvPicPr preferRelativeResize="0"/>
          <p:nvPr/>
        </p:nvPicPr>
        <p:blipFill rotWithShape="1">
          <a:blip r:embed="rId5">
            <a:alphaModFix/>
          </a:blip>
          <a:srcRect b="26148" l="0" r="66422" t="7319"/>
          <a:stretch/>
        </p:blipFill>
        <p:spPr>
          <a:xfrm>
            <a:off x="11105350" y="169750"/>
            <a:ext cx="897649" cy="520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71" name="Google Shape;271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72" name="Google Shape;272;p26"/>
          <p:cNvSpPr/>
          <p:nvPr/>
        </p:nvSpPr>
        <p:spPr>
          <a:xfrm>
            <a:off x="571500" y="2205037"/>
            <a:ext cx="11049000" cy="2733675"/>
          </a:xfrm>
          <a:prstGeom prst="roundRect">
            <a:avLst>
              <a:gd fmla="val 0" name="adj"/>
            </a:avLst>
          </a:prstGeom>
          <a:solidFill>
            <a:srgbClr val="334155"/>
          </a:solidFill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73" name="Google Shape;273;p26"/>
          <p:cNvGraphicFramePr/>
          <p:nvPr/>
        </p:nvGraphicFramePr>
        <p:xfrm>
          <a:off x="571500" y="220503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{0029D3DC-28B8-4A2A-94BC-9923F34E900A}</a:tableStyleId>
              </a:tblPr>
              <a:tblGrid>
                <a:gridCol w="4426300"/>
                <a:gridCol w="1693375"/>
                <a:gridCol w="4929325"/>
              </a:tblGrid>
              <a:tr h="6834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650" u="none" cap="none" strike="noStrike">
                          <a:solidFill>
                            <a:srgbClr val="0EA5E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Categoria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7556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650" u="none" cap="none" strike="noStrike">
                          <a:solidFill>
                            <a:srgbClr val="0EA5E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Sigla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7556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650" u="none" cap="none" strike="noStrike">
                          <a:solidFill>
                            <a:srgbClr val="0EA5E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Principais Comandos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75569"/>
                    </a:solidFill>
                  </a:tcPr>
                </a:tc>
              </a:tr>
              <a:tr h="6834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latin typeface="Inter"/>
                          <a:ea typeface="Inter"/>
                          <a:cs typeface="Inter"/>
                          <a:sym typeface="Inter"/>
                        </a:rPr>
                        <a:t>Definição de Dados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latin typeface="Inter"/>
                          <a:ea typeface="Inter"/>
                          <a:cs typeface="Inter"/>
                          <a:sym typeface="Inter"/>
                        </a:rPr>
                        <a:t>DDL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latin typeface="Inter"/>
                          <a:ea typeface="Inter"/>
                          <a:cs typeface="Inter"/>
                          <a:sym typeface="Inter"/>
                        </a:rPr>
                        <a:t>CREATE, ALTER, DROP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D7E7"/>
                    </a:solidFill>
                  </a:tcPr>
                </a:tc>
              </a:tr>
              <a:tr h="6834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latin typeface="Inter"/>
                          <a:ea typeface="Inter"/>
                          <a:cs typeface="Inter"/>
                          <a:sym typeface="Inter"/>
                        </a:rPr>
                        <a:t>Manipulação de Dados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latin typeface="Inter"/>
                          <a:ea typeface="Inter"/>
                          <a:cs typeface="Inter"/>
                          <a:sym typeface="Inter"/>
                        </a:rPr>
                        <a:t>DML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latin typeface="Inter"/>
                          <a:ea typeface="Inter"/>
                          <a:cs typeface="Inter"/>
                          <a:sym typeface="Inter"/>
                        </a:rPr>
                        <a:t>INSERT, UPDATE, DELETE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834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en-US" sz="1500" u="none" cap="none" strike="noStrike">
                          <a:latin typeface="Inter"/>
                          <a:ea typeface="Inter"/>
                          <a:cs typeface="Inter"/>
                          <a:sym typeface="Inter"/>
                        </a:rPr>
                        <a:t>Consulta de Dados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latin typeface="Inter"/>
                          <a:ea typeface="Inter"/>
                          <a:cs typeface="Inter"/>
                          <a:sym typeface="Inter"/>
                        </a:rPr>
                        <a:t>DQL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latin typeface="Inter"/>
                          <a:ea typeface="Inter"/>
                          <a:cs typeface="Inter"/>
                          <a:sym typeface="Inter"/>
                        </a:rPr>
                        <a:t>SELECT, JOIN, WHERE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74" name="Google Shape;274;p26"/>
          <p:cNvSpPr txBox="1"/>
          <p:nvPr/>
        </p:nvSpPr>
        <p:spPr>
          <a:xfrm>
            <a:off x="571500" y="5224462"/>
            <a:ext cx="1104900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Implementação e operacionalização nos principais SGBDs do mercado.</a:t>
            </a:r>
            <a:endParaRPr/>
          </a:p>
        </p:txBody>
      </p:sp>
      <p:sp>
        <p:nvSpPr>
          <p:cNvPr id="275" name="Google Shape;275;p26"/>
          <p:cNvSpPr/>
          <p:nvPr/>
        </p:nvSpPr>
        <p:spPr>
          <a:xfrm>
            <a:off x="571500" y="3571875"/>
            <a:ext cx="4426297" cy="9525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26"/>
          <p:cNvSpPr/>
          <p:nvPr/>
        </p:nvSpPr>
        <p:spPr>
          <a:xfrm>
            <a:off x="4997797" y="3571875"/>
            <a:ext cx="1693366" cy="9525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26"/>
          <p:cNvSpPr/>
          <p:nvPr/>
        </p:nvSpPr>
        <p:spPr>
          <a:xfrm>
            <a:off x="6691163" y="3571875"/>
            <a:ext cx="4929336" cy="9525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26"/>
          <p:cNvSpPr/>
          <p:nvPr/>
        </p:nvSpPr>
        <p:spPr>
          <a:xfrm>
            <a:off x="571500" y="4248150"/>
            <a:ext cx="4426297" cy="9525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26"/>
          <p:cNvSpPr/>
          <p:nvPr/>
        </p:nvSpPr>
        <p:spPr>
          <a:xfrm>
            <a:off x="4997797" y="4248150"/>
            <a:ext cx="1693366" cy="9525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26"/>
          <p:cNvSpPr/>
          <p:nvPr/>
        </p:nvSpPr>
        <p:spPr>
          <a:xfrm>
            <a:off x="6691163" y="4248150"/>
            <a:ext cx="4929336" cy="9525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26"/>
          <p:cNvSpPr/>
          <p:nvPr/>
        </p:nvSpPr>
        <p:spPr>
          <a:xfrm>
            <a:off x="571500" y="4924425"/>
            <a:ext cx="4426297" cy="9525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26"/>
          <p:cNvSpPr/>
          <p:nvPr/>
        </p:nvSpPr>
        <p:spPr>
          <a:xfrm>
            <a:off x="4997797" y="4924425"/>
            <a:ext cx="1693366" cy="9525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26"/>
          <p:cNvSpPr/>
          <p:nvPr/>
        </p:nvSpPr>
        <p:spPr>
          <a:xfrm>
            <a:off x="6691163" y="4924425"/>
            <a:ext cx="4929336" cy="9525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26"/>
          <p:cNvSpPr txBox="1"/>
          <p:nvPr/>
        </p:nvSpPr>
        <p:spPr>
          <a:xfrm>
            <a:off x="800100" y="571500"/>
            <a:ext cx="11361420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INTRODUÇÃO AO SQL E SGBD</a:t>
            </a:r>
            <a:endParaRPr/>
          </a:p>
        </p:txBody>
      </p:sp>
      <p:sp>
        <p:nvSpPr>
          <p:cNvPr id="285" name="Google Shape;285;p26"/>
          <p:cNvSpPr/>
          <p:nvPr/>
        </p:nvSpPr>
        <p:spPr>
          <a:xfrm>
            <a:off x="571500" y="571500"/>
            <a:ext cx="76200" cy="619125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6" name="Google Shape;286;p26"/>
          <p:cNvPicPr preferRelativeResize="0"/>
          <p:nvPr/>
        </p:nvPicPr>
        <p:blipFill rotWithShape="1">
          <a:blip r:embed="rId4">
            <a:alphaModFix/>
          </a:blip>
          <a:srcRect b="26148" l="0" r="66422" t="7319"/>
          <a:stretch/>
        </p:blipFill>
        <p:spPr>
          <a:xfrm>
            <a:off x="11105350" y="169750"/>
            <a:ext cx="897649" cy="520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